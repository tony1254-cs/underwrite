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sepolia.basescan.org/tx/0xf19d5e201545fbe71c83c0dbd62af34a398a0414979bdaccd30fe2de827ad712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sepolia.basescan.org/tx/0xf19d5e201545fbe71c83c0dbd62af34a398a0414979bdaccd30fe2de827ad712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82F"/>
          </a:solidFill>
          <a:ln>
            <a:solidFill>
              <a:srgbClr val="0818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6510528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8DA0B9"/>
                </a:solidFill>
                <a:latin typeface="Segoe U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6510528"/>
            <a:ext cx="3840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DA0B9"/>
                </a:solidFill>
                <a:latin typeface="Segoe UI"/>
              </a:rPr>
              <a:t>UNDERWRITE · 2026 SHENZHEN FINTECHATHON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651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8DA0B9"/>
                </a:solidFill>
                <a:latin typeface="Segoe UI"/>
              </a:rPr>
              <a:t>OPEN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4048" y="6419088"/>
            <a:ext cx="11411712" cy="0"/>
          </a:xfrm>
          <a:prstGeom prst="line">
            <a:avLst/>
          </a:prstGeom>
          <a:ln w="8890">
            <a:solidFill>
              <a:srgbClr val="2B3B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50292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D4C5"/>
                </a:solidFill>
                <a:latin typeface="Segoe UI"/>
              </a:rPr>
              <a:t>INTERNATIONAL TRACK · TOPIC 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78992"/>
            <a:ext cx="65836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FFFFFF"/>
                </a:solidFill>
                <a:latin typeface="Segoe UI"/>
              </a:rPr>
              <a:t>Authority</a:t>
            </a:r>
            <a:br/>
            <a:r>
              <a:rPr sz="3900" b="1">
                <a:solidFill>
                  <a:srgbClr val="FFFFFF"/>
                </a:solidFill>
                <a:latin typeface="Segoe UI"/>
              </a:rPr>
              <a:t>must be earned.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953512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9D3E2"/>
                </a:solidFill>
                <a:latin typeface="Segoe UI"/>
              </a:rPr>
              <a:t>An autonomous payment wallet where spending authority is measured, enforced on-chain, and collateral-backed.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" y="4005072"/>
            <a:ext cx="1481328" cy="292608"/>
          </a:xfrm>
          <a:prstGeom prst="roundRect">
            <a:avLst>
              <a:gd name="adj" fmla="val 8000"/>
            </a:avLst>
          </a:prstGeom>
          <a:solidFill>
            <a:srgbClr val="D9F8EE"/>
          </a:solidFill>
          <a:ln>
            <a:solidFill>
              <a:srgbClr val="D9F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4018787"/>
            <a:ext cx="148132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6765E"/>
                </a:solidFill>
                <a:latin typeface="Segoe UI"/>
              </a:rPr>
              <a:t>WORKING PROTOTYPE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12848" y="4005072"/>
            <a:ext cx="1581912" cy="292608"/>
          </a:xfrm>
          <a:prstGeom prst="roundRect">
            <a:avLst>
              <a:gd name="adj" fmla="val 8000"/>
            </a:avLst>
          </a:prstGeom>
          <a:solidFill>
            <a:srgbClr val="FFF0D7"/>
          </a:solidFill>
          <a:ln>
            <a:solidFill>
              <a:srgbClr val="FFF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12848" y="4018787"/>
            <a:ext cx="158191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8B5300"/>
                </a:solidFill>
                <a:latin typeface="Segoe UI"/>
              </a:rPr>
              <a:t>REAL BASE SEPOLIA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-1051560"/>
            <a:ext cx="5212080" cy="5212080"/>
          </a:xfrm>
          <a:prstGeom prst="roundRect">
            <a:avLst>
              <a:gd name="adj" fmla="val 8000"/>
            </a:avLst>
          </a:prstGeom>
          <a:solidFill>
            <a:srgbClr val="0D2341"/>
          </a:solidFill>
          <a:ln>
            <a:solidFill>
              <a:srgbClr val="176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58200" y="-502920"/>
            <a:ext cx="4846320" cy="4846320"/>
          </a:xfrm>
          <a:prstGeom prst="roundRect">
            <a:avLst>
              <a:gd name="adj" fmla="val 8000"/>
            </a:avLst>
          </a:prstGeom>
          <a:solidFill>
            <a:srgbClr val="08182F"/>
          </a:solidFill>
          <a:ln>
            <a:solidFill>
              <a:srgbClr val="18D4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0144" y="1033271"/>
            <a:ext cx="3685032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FFFFF"/>
                </a:solidFill>
                <a:latin typeface="Segoe UI"/>
              </a:rPr>
              <a:t>UNDERWRITE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04704" y="1773936"/>
            <a:ext cx="1481328" cy="73152"/>
          </a:xfrm>
          <a:prstGeom prst="rect">
            <a:avLst/>
          </a:prstGeom>
          <a:solidFill>
            <a:srgbClr val="CCFF27"/>
          </a:solidFill>
          <a:ln>
            <a:solidFill>
              <a:srgbClr val="CCFF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01583" y="2121408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EABC0"/>
                </a:solidFill>
                <a:latin typeface="Segoe UI"/>
              </a:rPr>
              <a:t>Evidence → Authority → Settlement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solidFill>
              <a:srgbClr val="F7F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6510528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647084"/>
                </a:solidFill>
                <a:latin typeface="Segoe U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6510528"/>
            <a:ext cx="3840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47084"/>
                </a:solidFill>
                <a:latin typeface="Segoe UI"/>
              </a:rPr>
              <a:t>UNDERWRITE · 2026 SHENZHEN FINTECHATHON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651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647084"/>
                </a:solidFill>
                <a:latin typeface="Segoe UI"/>
              </a:rPr>
              <a:t>PROBLEM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4048" y="6419088"/>
            <a:ext cx="11411712" cy="0"/>
          </a:xfrm>
          <a:prstGeom prst="line">
            <a:avLst/>
          </a:prstGeom>
          <a:ln w="8890">
            <a:solidFill>
              <a:srgbClr val="D8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347472"/>
            <a:ext cx="11064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769FF"/>
                </a:solidFill>
                <a:latin typeface="Segoe UI"/>
              </a:rPr>
              <a:t>THE CONTROL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01827"/>
                </a:solidFill>
                <a:latin typeface="Segoe UI"/>
              </a:rPr>
              <a:t>Intelligence cannot be its own spending policy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7" y="132588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47084"/>
                </a:solidFill>
                <a:latin typeface="Segoe UI"/>
              </a:rPr>
              <a:t>A financial agent can be useful and still be wrong, manipulated, or compromised. Prompt instructions are not a custody control.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7" y="2148840"/>
            <a:ext cx="352044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1207" y="2148840"/>
            <a:ext cx="64008" cy="1874519"/>
          </a:xfrm>
          <a:prstGeom prst="rect">
            <a:avLst/>
          </a:prstGeom>
          <a:solidFill>
            <a:srgbClr val="EF5A5A"/>
          </a:solidFill>
          <a:ln>
            <a:solidFill>
              <a:srgbClr val="EF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350008"/>
            <a:ext cx="30998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1827"/>
                </a:solidFill>
                <a:latin typeface="Segoe UI"/>
              </a:rPr>
              <a:t>Prompt injection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43200"/>
            <a:ext cx="3108960" cy="11612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084"/>
                </a:solidFill>
                <a:latin typeface="Segoe UI"/>
              </a:rPr>
              <a:t>A poisoned invoice turns untrusted content into a payment instruction.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2148840"/>
            <a:ext cx="352044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2148840"/>
            <a:ext cx="64008" cy="1874519"/>
          </a:xfrm>
          <a:prstGeom prst="rect">
            <a:avLst/>
          </a:prstGeom>
          <a:solidFill>
            <a:srgbClr val="FFB547"/>
          </a:solidFill>
          <a:ln>
            <a:solidFill>
              <a:srgbClr val="FFB5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4568" y="2350008"/>
            <a:ext cx="30998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1827"/>
                </a:solidFill>
                <a:latin typeface="Segoe UI"/>
              </a:rPr>
              <a:t>Hallucinated intent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2743200"/>
            <a:ext cx="3108960" cy="11612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084"/>
                </a:solidFill>
                <a:latin typeface="Segoe UI"/>
              </a:rPr>
              <a:t>A model invents or confuses a vendor, amount, purchase order, or urgency.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0727" y="2148840"/>
            <a:ext cx="352044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10727" y="2148840"/>
            <a:ext cx="64008" cy="1874519"/>
          </a:xfrm>
          <a:prstGeom prst="rect">
            <a:avLst/>
          </a:prstGeom>
          <a:solidFill>
            <a:srgbClr val="1769FF"/>
          </a:solidFill>
          <a:ln>
            <a:solidFill>
              <a:srgbClr val="176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2350008"/>
            <a:ext cx="30998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1827"/>
                </a:solidFill>
                <a:latin typeface="Segoe UI"/>
              </a:rPr>
              <a:t>Key compromise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2743200"/>
            <a:ext cx="3108960" cy="11612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084"/>
                </a:solidFill>
                <a:latin typeface="Segoe UI"/>
              </a:rPr>
              <a:t>An attacker bypasses the model and calls the wallet with the agent key.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1207" y="4370832"/>
            <a:ext cx="11109960" cy="1143000"/>
          </a:xfrm>
          <a:prstGeom prst="roundRect">
            <a:avLst>
              <a:gd name="adj" fmla="val 8000"/>
            </a:avLst>
          </a:prstGeom>
          <a:solidFill>
            <a:srgbClr val="08182F"/>
          </a:solidFill>
          <a:ln>
            <a:solidFill>
              <a:srgbClr val="0818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" y="4535424"/>
            <a:ext cx="105704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The question is not “Can the model pay?”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4919472"/>
            <a:ext cx="105704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CFF27"/>
                </a:solidFill>
                <a:latin typeface="Segoe UI"/>
              </a:rPr>
              <a:t>Who measured, granted, bounded, and can revoke that authority?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solidFill>
              <a:srgbClr val="F7F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6510528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647084"/>
                </a:solidFill>
                <a:latin typeface="Segoe U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6510528"/>
            <a:ext cx="3840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47084"/>
                </a:solidFill>
                <a:latin typeface="Segoe UI"/>
              </a:rPr>
              <a:t>UNDERWRITE · 2026 SHENZHEN FINTECHATHON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651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647084"/>
                </a:solidFill>
                <a:latin typeface="Segoe UI"/>
              </a:rPr>
              <a:t>SOLUTION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4048" y="6419088"/>
            <a:ext cx="11411712" cy="0"/>
          </a:xfrm>
          <a:prstGeom prst="line">
            <a:avLst/>
          </a:prstGeom>
          <a:ln w="8890">
            <a:solidFill>
              <a:srgbClr val="D8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347472"/>
            <a:ext cx="11064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769FF"/>
                </a:solidFill>
                <a:latin typeface="Segoe UI"/>
              </a:rPr>
              <a:t>THE 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01827"/>
                </a:solidFill>
                <a:latin typeface="Segoe UI"/>
              </a:rPr>
              <a:t>Measure risk. Compile authority. Enforce the envelope.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1207" y="1856231"/>
            <a:ext cx="2487168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5" y="2057400"/>
            <a:ext cx="502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769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5" y="2542032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01827"/>
                </a:solidFill>
                <a:latin typeface="Segoe UI"/>
              </a:rPr>
              <a:t>EXAM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5" y="3063240"/>
            <a:ext cx="205740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084"/>
                </a:solidFill>
                <a:latin typeface="Segoe UI"/>
              </a:rPr>
              <a:t>Exact agent configuration faces benign and adversarial scenarios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063239" y="3090672"/>
            <a:ext cx="246888" cy="0"/>
          </a:xfrm>
          <a:prstGeom prst="line">
            <a:avLst/>
          </a:prstGeom>
          <a:ln w="27940">
            <a:solidFill>
              <a:srgbClr val="176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337560" y="1856231"/>
            <a:ext cx="2487168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057400"/>
            <a:ext cx="502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8D4C5"/>
                </a:solidFill>
                <a:latin typeface="Segoe U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542032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01827"/>
                </a:solidFill>
                <a:latin typeface="Segoe UI"/>
              </a:rPr>
              <a:t>COMPILE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8728" y="3063240"/>
            <a:ext cx="205740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084"/>
                </a:solidFill>
                <a:latin typeface="Segoe UI"/>
              </a:rPr>
              <a:t>Conservative risk bounds become tiered limits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879592" y="3090672"/>
            <a:ext cx="246887" cy="0"/>
          </a:xfrm>
          <a:prstGeom prst="line">
            <a:avLst/>
          </a:prstGeom>
          <a:ln w="27940">
            <a:solidFill>
              <a:srgbClr val="176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153912" y="1856231"/>
            <a:ext cx="2487168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2057400"/>
            <a:ext cx="502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B547"/>
                </a:solidFill>
                <a:latin typeface="Segoe U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2542032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01827"/>
                </a:solidFill>
                <a:latin typeface="Segoe UI"/>
              </a:rPr>
              <a:t>ACTIVATE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063240"/>
            <a:ext cx="205740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084"/>
                </a:solidFill>
                <a:latin typeface="Segoe UI"/>
              </a:rPr>
              <a:t>Examiner signs; owner consents on-chain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695944" y="3090672"/>
            <a:ext cx="246888" cy="0"/>
          </a:xfrm>
          <a:prstGeom prst="line">
            <a:avLst/>
          </a:prstGeom>
          <a:ln w="27940">
            <a:solidFill>
              <a:srgbClr val="176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970264" y="1856231"/>
            <a:ext cx="2487168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71432" y="2057400"/>
            <a:ext cx="502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CFF27"/>
                </a:solidFill>
                <a:latin typeface="Segoe U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32" y="2542032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01827"/>
                </a:solidFill>
                <a:latin typeface="Segoe UI"/>
              </a:rPr>
              <a:t>ENFORCE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1432" y="3063240"/>
            <a:ext cx="205740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084"/>
                </a:solidFill>
                <a:latin typeface="Segoe UI"/>
              </a:rPr>
              <a:t>Vault, challenge window and bond contain failure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96519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01827"/>
                </a:solidFill>
                <a:latin typeface="Segoe UI"/>
              </a:rPr>
              <a:t>The model proposes. Deterministic software decides. The contract enforces.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5596128"/>
            <a:ext cx="9326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084"/>
                </a:solidFill>
                <a:latin typeface="Segoe UI"/>
              </a:rPr>
              <a:t>Authority is evidence-bound, per configuration, time-limited and removable without the agent’s cooperation.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82F"/>
          </a:solidFill>
          <a:ln>
            <a:solidFill>
              <a:srgbClr val="0818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6510528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8DA0B9"/>
                </a:solidFill>
                <a:latin typeface="Segoe U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6510528"/>
            <a:ext cx="3840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DA0B9"/>
                </a:solidFill>
                <a:latin typeface="Segoe UI"/>
              </a:rPr>
              <a:t>UNDERWRITE · 2026 SHENZHEN FINTECHATHON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651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8DA0B9"/>
                </a:solidFill>
                <a:latin typeface="Segoe UI"/>
              </a:rPr>
              <a:t>PRODUCT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4048" y="6419088"/>
            <a:ext cx="11411712" cy="0"/>
          </a:xfrm>
          <a:prstGeom prst="line">
            <a:avLst/>
          </a:prstGeom>
          <a:ln w="8890">
            <a:solidFill>
              <a:srgbClr val="2B3B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347472"/>
            <a:ext cx="11064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8D4C5"/>
                </a:solidFill>
                <a:latin typeface="Segoe UI"/>
              </a:rPr>
              <a:t>WORKING PRODUCT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FFFFF"/>
                </a:solidFill>
                <a:latin typeface="Segoe UI"/>
              </a:rPr>
              <a:t>A judge can see the boundary, not just hear about it</a:t>
            </a:r>
          </a:p>
        </p:txBody>
      </p:sp>
      <p:pic>
        <p:nvPicPr>
          <p:cNvPr id="9" name="Picture 8" descr="home.png"/>
          <p:cNvPicPr>
            <a:picLocks noChangeAspect="1"/>
          </p:cNvPicPr>
          <p:nvPr/>
        </p:nvPicPr>
        <p:blipFill>
          <a:blip r:embed="rId2"/>
          <a:srcRect l="2738" r="2738"/>
          <a:stretch>
            <a:fillRect/>
          </a:stretch>
        </p:blipFill>
        <p:spPr>
          <a:xfrm>
            <a:off x="521207" y="1353312"/>
            <a:ext cx="7452360" cy="4434840"/>
          </a:xfrm>
          <a:prstGeom prst="rect">
            <a:avLst/>
          </a:prstGeom>
          <a:ln w="15240">
            <a:solidFill>
              <a:srgbClr val="2E425E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8229600" y="1353312"/>
            <a:ext cx="3401568" cy="1115568"/>
          </a:xfrm>
          <a:prstGeom prst="roundRect">
            <a:avLst>
              <a:gd name="adj" fmla="val 8000"/>
            </a:avLst>
          </a:prstGeom>
          <a:solidFill>
            <a:srgbClr val="132540"/>
          </a:solidFill>
          <a:ln>
            <a:solidFill>
              <a:srgbClr val="263B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1353312"/>
            <a:ext cx="64008" cy="1115568"/>
          </a:xfrm>
          <a:prstGeom prst="rect">
            <a:avLst/>
          </a:prstGeom>
          <a:solidFill>
            <a:srgbClr val="18D4C5"/>
          </a:solidFill>
          <a:ln>
            <a:solidFill>
              <a:srgbClr val="18D4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1554480"/>
            <a:ext cx="29809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1 · Business proposal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1947672"/>
            <a:ext cx="2990088" cy="402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7D2E2"/>
                </a:solidFill>
                <a:latin typeface="Segoe UI"/>
              </a:rPr>
              <a:t>The agent starts from an invoice and vendor ID.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660904"/>
            <a:ext cx="3401568" cy="1115568"/>
          </a:xfrm>
          <a:prstGeom prst="roundRect">
            <a:avLst>
              <a:gd name="adj" fmla="val 8000"/>
            </a:avLst>
          </a:prstGeom>
          <a:solidFill>
            <a:srgbClr val="132540"/>
          </a:solidFill>
          <a:ln>
            <a:solidFill>
              <a:srgbClr val="263B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2660904"/>
            <a:ext cx="64008" cy="1115568"/>
          </a:xfrm>
          <a:prstGeom prst="rect">
            <a:avLst/>
          </a:prstGeom>
          <a:solidFill>
            <a:srgbClr val="1769FF"/>
          </a:solidFill>
          <a:ln>
            <a:solidFill>
              <a:srgbClr val="176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2862072"/>
            <a:ext cx="29809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2 · Layered 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3255264"/>
            <a:ext cx="2990088" cy="402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7D2E2"/>
                </a:solidFill>
                <a:latin typeface="Segoe UI"/>
              </a:rPr>
              <a:t>Agent → policy → contract → funds is visible.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3968496"/>
            <a:ext cx="3401568" cy="1115568"/>
          </a:xfrm>
          <a:prstGeom prst="roundRect">
            <a:avLst>
              <a:gd name="adj" fmla="val 8000"/>
            </a:avLst>
          </a:prstGeom>
          <a:solidFill>
            <a:srgbClr val="132540"/>
          </a:solidFill>
          <a:ln>
            <a:solidFill>
              <a:srgbClr val="263B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3968496"/>
            <a:ext cx="64008" cy="1115568"/>
          </a:xfrm>
          <a:prstGeom prst="rect">
            <a:avLst/>
          </a:prstGeom>
          <a:solidFill>
            <a:srgbClr val="FFB547"/>
          </a:solidFill>
          <a:ln>
            <a:solidFill>
              <a:srgbClr val="FFB5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200" y="4169663"/>
            <a:ext cx="29809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3 · Evidence label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562856"/>
            <a:ext cx="2990088" cy="402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7D2E2"/>
                </a:solidFill>
                <a:latin typeface="Segoe UI"/>
              </a:rPr>
              <a:t>Simulated UI and real testnet proof are never conflated.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5367528"/>
            <a:ext cx="2148840" cy="292608"/>
          </a:xfrm>
          <a:prstGeom prst="roundRect">
            <a:avLst>
              <a:gd name="adj" fmla="val 8000"/>
            </a:avLst>
          </a:prstGeom>
          <a:solidFill>
            <a:srgbClr val="22324A"/>
          </a:solidFill>
          <a:ln>
            <a:solidFill>
              <a:srgbClr val="425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5381244"/>
            <a:ext cx="2148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DDE7F5"/>
                </a:solidFill>
                <a:latin typeface="Segoe UI"/>
              </a:rPr>
              <a:t>LIGHT UI · SCRIPTED DEMO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solidFill>
              <a:srgbClr val="F7F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6510528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647084"/>
                </a:solidFill>
                <a:latin typeface="Segoe U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6510528"/>
            <a:ext cx="3840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47084"/>
                </a:solidFill>
                <a:latin typeface="Segoe UI"/>
              </a:rPr>
              <a:t>UNDERWRITE · 2026 SHENZHEN FINTECHATHON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651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647084"/>
                </a:solidFill>
                <a:latin typeface="Segoe UI"/>
              </a:rPr>
              <a:t>ARCHITECTURE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4048" y="6419088"/>
            <a:ext cx="11411712" cy="0"/>
          </a:xfrm>
          <a:prstGeom prst="line">
            <a:avLst/>
          </a:prstGeom>
          <a:ln w="8890">
            <a:solidFill>
              <a:srgbClr val="D8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347472"/>
            <a:ext cx="11064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769FF"/>
                </a:solidFill>
                <a:latin typeface="Segoe UI"/>
              </a:rPr>
              <a:t>TRUST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01827"/>
                </a:solidFill>
                <a:latin typeface="Segoe UI"/>
              </a:rPr>
              <a:t>One narrow path from language to money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1207" y="1901952"/>
            <a:ext cx="2487168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04088" y="2084831"/>
            <a:ext cx="1234440" cy="292608"/>
          </a:xfrm>
          <a:prstGeom prst="roundRect">
            <a:avLst>
              <a:gd name="adj" fmla="val 8000"/>
            </a:avLst>
          </a:prstGeom>
          <a:solidFill>
            <a:srgbClr val="EF5A5A"/>
          </a:solidFill>
          <a:ln>
            <a:solidFill>
              <a:srgbClr val="EF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098548"/>
            <a:ext cx="12344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Segoe UI"/>
              </a:rPr>
              <a:t>UNTRUSTED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51760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1827"/>
                </a:solidFill>
                <a:latin typeface="Segoe UI"/>
              </a:rPr>
              <a:t>Invoice + LLM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246120"/>
            <a:ext cx="2057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084"/>
                </a:solidFill>
                <a:latin typeface="Segoe UI"/>
              </a:rPr>
              <a:t>Reads, extracts, proposes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063239" y="3035808"/>
            <a:ext cx="246888" cy="0"/>
          </a:xfrm>
          <a:prstGeom prst="line">
            <a:avLst/>
          </a:prstGeom>
          <a:ln w="27940">
            <a:solidFill>
              <a:srgbClr val="176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337560" y="1901952"/>
            <a:ext cx="2487168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0440" y="2084831"/>
            <a:ext cx="1234440" cy="292608"/>
          </a:xfrm>
          <a:prstGeom prst="roundRect">
            <a:avLst>
              <a:gd name="adj" fmla="val 8000"/>
            </a:avLst>
          </a:prstGeom>
          <a:solidFill>
            <a:srgbClr val="1769FF"/>
          </a:solidFill>
          <a:ln>
            <a:solidFill>
              <a:srgbClr val="176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0440" y="2098548"/>
            <a:ext cx="12344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Segoe UI"/>
              </a:rPr>
              <a:t>DETERMINISTIC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651760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1827"/>
                </a:solidFill>
                <a:latin typeface="Segoe UI"/>
              </a:rPr>
              <a:t>Registry + policy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246120"/>
            <a:ext cx="2057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084"/>
                </a:solidFill>
                <a:latin typeface="Segoe UI"/>
              </a:rPr>
              <a:t>Resolves, validates, classifies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879592" y="3035808"/>
            <a:ext cx="246887" cy="0"/>
          </a:xfrm>
          <a:prstGeom prst="line">
            <a:avLst/>
          </a:prstGeom>
          <a:ln w="27940">
            <a:solidFill>
              <a:srgbClr val="176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153912" y="1901952"/>
            <a:ext cx="2487168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336792" y="2084831"/>
            <a:ext cx="1234440" cy="292608"/>
          </a:xfrm>
          <a:prstGeom prst="roundRect">
            <a:avLst>
              <a:gd name="adj" fmla="val 8000"/>
            </a:avLst>
          </a:prstGeom>
          <a:solidFill>
            <a:srgbClr val="FFB547"/>
          </a:solidFill>
          <a:ln>
            <a:solidFill>
              <a:srgbClr val="FFB5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6792" y="2098548"/>
            <a:ext cx="12344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Segoe UI"/>
              </a:rPr>
              <a:t>SIGNED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6792" y="2651760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1827"/>
                </a:solidFill>
                <a:latin typeface="Segoe UI"/>
              </a:rPr>
              <a:t>Role keys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6792" y="3246120"/>
            <a:ext cx="2057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084"/>
                </a:solidFill>
                <a:latin typeface="Segoe UI"/>
              </a:rPr>
              <a:t>Attests and consents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95944" y="3035808"/>
            <a:ext cx="246888" cy="0"/>
          </a:xfrm>
          <a:prstGeom prst="line">
            <a:avLst/>
          </a:prstGeom>
          <a:ln w="27940">
            <a:solidFill>
              <a:srgbClr val="176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970264" y="1901952"/>
            <a:ext cx="2487168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53144" y="2084831"/>
            <a:ext cx="1234440" cy="292608"/>
          </a:xfrm>
          <a:prstGeom prst="roundRect">
            <a:avLst>
              <a:gd name="adj" fmla="val 8000"/>
            </a:avLst>
          </a:prstGeom>
          <a:solidFill>
            <a:srgbClr val="18D4C5"/>
          </a:solidFill>
          <a:ln>
            <a:solidFill>
              <a:srgbClr val="18D4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3144" y="2098548"/>
            <a:ext cx="12344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Segoe UI"/>
              </a:rPr>
              <a:t>ON-CHAIN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3144" y="2651760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1827"/>
                </a:solidFill>
                <a:latin typeface="Segoe UI"/>
              </a:rPr>
              <a:t>Vault + BondPool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3144" y="3246120"/>
            <a:ext cx="2057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084"/>
                </a:solidFill>
                <a:latin typeface="Segoe UI"/>
              </a:rPr>
              <a:t>Enforces and settles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21207" y="4645152"/>
            <a:ext cx="11109960" cy="822960"/>
          </a:xfrm>
          <a:prstGeom prst="roundRect">
            <a:avLst>
              <a:gd name="adj" fmla="val 8000"/>
            </a:avLst>
          </a:prstGeom>
          <a:solidFill>
            <a:srgbClr val="08182F"/>
          </a:solidFill>
          <a:ln>
            <a:solidFill>
              <a:srgbClr val="0818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4882896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CFF27"/>
                </a:solidFill>
                <a:latin typeface="Segoe UI"/>
              </a:rPr>
              <a:t>Hard rule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47088" y="480060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The LLM never chooses an address, token, calldata, or spending limit.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solidFill>
              <a:srgbClr val="F7F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6510528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647084"/>
                </a:solidFill>
                <a:latin typeface="Segoe U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6510528"/>
            <a:ext cx="3840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47084"/>
                </a:solidFill>
                <a:latin typeface="Segoe UI"/>
              </a:rPr>
              <a:t>UNDERWRITE · 2026 SHENZHEN FINTECHATHON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651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647084"/>
                </a:solidFill>
                <a:latin typeface="Segoe UI"/>
              </a:rPr>
              <a:t>EARN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4048" y="6419088"/>
            <a:ext cx="11411712" cy="0"/>
          </a:xfrm>
          <a:prstGeom prst="line">
            <a:avLst/>
          </a:prstGeom>
          <a:ln w="8890">
            <a:solidFill>
              <a:srgbClr val="D8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347472"/>
            <a:ext cx="11064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769FF"/>
                </a:solidFill>
                <a:latin typeface="Segoe UI"/>
              </a:rPr>
              <a:t>EVIDENCE TO AUTHORITY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01827"/>
                </a:solidFill>
                <a:latin typeface="Segoe UI"/>
              </a:rPr>
              <a:t>The exact configuration earns—or is denied—autonomy</a:t>
            </a:r>
          </a:p>
        </p:txBody>
      </p:sp>
      <p:pic>
        <p:nvPicPr>
          <p:cNvPr id="9" name="Picture 8" descr="exam.png"/>
          <p:cNvPicPr>
            <a:picLocks noChangeAspect="1"/>
          </p:cNvPicPr>
          <p:nvPr/>
        </p:nvPicPr>
        <p:blipFill>
          <a:blip r:embed="rId2"/>
          <a:srcRect l="12758" r="12758"/>
          <a:stretch>
            <a:fillRect/>
          </a:stretch>
        </p:blipFill>
        <p:spPr>
          <a:xfrm>
            <a:off x="521207" y="1353312"/>
            <a:ext cx="5715000" cy="4315968"/>
          </a:xfrm>
          <a:prstGeom prst="rect">
            <a:avLst/>
          </a:prstGeom>
          <a:ln w="15240">
            <a:solidFill>
              <a:srgbClr val="D8DEE8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565392" y="141732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69FF"/>
                </a:solidFill>
                <a:latin typeface="Segoe UI"/>
              </a:rPr>
              <a:t>COMPILER OUTPUT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65392" y="1783080"/>
            <a:ext cx="23957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65392" y="1783080"/>
            <a:ext cx="64008" cy="1143000"/>
          </a:xfrm>
          <a:prstGeom prst="rect">
            <a:avLst/>
          </a:prstGeom>
          <a:solidFill>
            <a:srgbClr val="EF5A5A"/>
          </a:solidFill>
          <a:ln>
            <a:solidFill>
              <a:srgbClr val="EF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93992" y="1984248"/>
            <a:ext cx="197510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1827"/>
                </a:solidFill>
                <a:latin typeface="Segoe UI"/>
              </a:rPr>
              <a:t>T1 per transaction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93992" y="2377440"/>
            <a:ext cx="1984248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084"/>
                </a:solidFill>
                <a:latin typeface="Segoe UI"/>
              </a:rPr>
              <a:t>0 MockUSDC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17152" y="1783080"/>
            <a:ext cx="23957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217152" y="1783080"/>
            <a:ext cx="64008" cy="1143000"/>
          </a:xfrm>
          <a:prstGeom prst="rect">
            <a:avLst/>
          </a:prstGeom>
          <a:solidFill>
            <a:srgbClr val="EF5A5A"/>
          </a:solidFill>
          <a:ln>
            <a:solidFill>
              <a:srgbClr val="EF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45752" y="1984248"/>
            <a:ext cx="197510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1827"/>
                </a:solidFill>
                <a:latin typeface="Segoe UI"/>
              </a:rPr>
              <a:t>T1 per window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45752" y="2377440"/>
            <a:ext cx="1984248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084"/>
                </a:solidFill>
                <a:latin typeface="Segoe UI"/>
              </a:rPr>
              <a:t>0 MockUSDC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65392" y="3182112"/>
            <a:ext cx="23957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65392" y="3182112"/>
            <a:ext cx="64008" cy="1143000"/>
          </a:xfrm>
          <a:prstGeom prst="rect">
            <a:avLst/>
          </a:prstGeom>
          <a:solidFill>
            <a:srgbClr val="18D4C5"/>
          </a:solidFill>
          <a:ln>
            <a:solidFill>
              <a:srgbClr val="18D4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3383280"/>
            <a:ext cx="197510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1827"/>
                </a:solidFill>
                <a:latin typeface="Segoe UI"/>
              </a:rPr>
              <a:t>T2 per request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93992" y="3776472"/>
            <a:ext cx="1984248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084"/>
                </a:solidFill>
                <a:latin typeface="Segoe UI"/>
              </a:rPr>
              <a:t>2,000 MockUSDC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17152" y="3182112"/>
            <a:ext cx="23957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17152" y="3182112"/>
            <a:ext cx="64008" cy="1143000"/>
          </a:xfrm>
          <a:prstGeom prst="rect">
            <a:avLst/>
          </a:prstGeom>
          <a:solidFill>
            <a:srgbClr val="FFB547"/>
          </a:solidFill>
          <a:ln>
            <a:solidFill>
              <a:srgbClr val="FFB5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45752" y="3383280"/>
            <a:ext cx="197510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1827"/>
                </a:solidFill>
                <a:latin typeface="Segoe UI"/>
              </a:rPr>
              <a:t>Decision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45752" y="3776472"/>
            <a:ext cx="1984248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084"/>
                </a:solidFill>
                <a:latin typeface="Segoe UI"/>
              </a:rPr>
              <a:t>UTILITY_GATE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65392" y="46634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1827"/>
                </a:solidFill>
                <a:latin typeface="Segoe UI"/>
              </a:rPr>
              <a:t>Current honest gamma 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5392" y="5074920"/>
            <a:ext cx="49834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084"/>
                </a:solidFill>
                <a:latin typeface="Segoe UI"/>
              </a:rPr>
              <a:t>The safety gate refused autonomous T1 authority. The system preserved bounded T2 with a human challenge window. No limit was manually overridden.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21207" y="5870448"/>
            <a:ext cx="2331720" cy="292608"/>
          </a:xfrm>
          <a:prstGeom prst="roundRect">
            <a:avLst>
              <a:gd name="adj" fmla="val 8000"/>
            </a:avLst>
          </a:prstGeom>
          <a:solidFill>
            <a:srgbClr val="FFF0D7"/>
          </a:solidFill>
          <a:ln>
            <a:solidFill>
              <a:srgbClr val="FFF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7" y="5884164"/>
            <a:ext cx="2331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8B5300"/>
                </a:solidFill>
                <a:latin typeface="Segoe UI"/>
              </a:rPr>
              <a:t>LIGHT UI · SCRIPTED DEMO VALUES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82F"/>
          </a:solidFill>
          <a:ln>
            <a:solidFill>
              <a:srgbClr val="0818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6510528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8DA0B9"/>
                </a:solidFill>
                <a:latin typeface="Segoe U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6510528"/>
            <a:ext cx="3840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DA0B9"/>
                </a:solidFill>
                <a:latin typeface="Segoe UI"/>
              </a:rPr>
              <a:t>UNDERWRITE · 2026 SHENZHEN FINTECHATHON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651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8DA0B9"/>
                </a:solidFill>
                <a:latin typeface="Segoe UI"/>
              </a:rPr>
              <a:t>PERMISSION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4048" y="6419088"/>
            <a:ext cx="11411712" cy="0"/>
          </a:xfrm>
          <a:prstGeom prst="line">
            <a:avLst/>
          </a:prstGeom>
          <a:ln w="8890">
            <a:solidFill>
              <a:srgbClr val="2B3B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347472"/>
            <a:ext cx="11064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8D4C5"/>
                </a:solidFill>
                <a:latin typeface="Segoe UI"/>
              </a:rPr>
              <a:t>PERMISSION LADDER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FFFFF"/>
                </a:solidFill>
                <a:latin typeface="Segoe UI"/>
              </a:rPr>
              <a:t>Fast when justified. Interruptible when uncertain.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81328"/>
            <a:ext cx="10863072" cy="822960"/>
          </a:xfrm>
          <a:prstGeom prst="roundRect">
            <a:avLst>
              <a:gd name="adj" fmla="val 8000"/>
            </a:avLst>
          </a:prstGeom>
          <a:solidFill>
            <a:srgbClr val="10233E"/>
          </a:solidFill>
          <a:ln>
            <a:solidFill>
              <a:srgbClr val="2940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81328"/>
            <a:ext cx="109728" cy="822960"/>
          </a:xfrm>
          <a:prstGeom prst="rect">
            <a:avLst/>
          </a:prstGeom>
          <a:solidFill>
            <a:srgbClr val="7A8AA3"/>
          </a:solidFill>
          <a:ln>
            <a:solidFill>
              <a:srgbClr val="7A8A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664208"/>
            <a:ext cx="6583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8AA3"/>
                </a:solidFill>
                <a:latin typeface="Segoe UI"/>
              </a:rPr>
              <a:t>T0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0784" y="1682496"/>
            <a:ext cx="960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READ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70632" y="1664208"/>
            <a:ext cx="8138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2E2"/>
                </a:solidFill>
                <a:latin typeface="Segoe UI"/>
              </a:rPr>
              <a:t>Observe balances and business records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505456"/>
            <a:ext cx="10863072" cy="822960"/>
          </a:xfrm>
          <a:prstGeom prst="roundRect">
            <a:avLst>
              <a:gd name="adj" fmla="val 8000"/>
            </a:avLst>
          </a:prstGeom>
          <a:solidFill>
            <a:srgbClr val="10233E"/>
          </a:solidFill>
          <a:ln>
            <a:solidFill>
              <a:srgbClr val="2940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505456"/>
            <a:ext cx="109728" cy="822960"/>
          </a:xfrm>
          <a:prstGeom prst="rect">
            <a:avLst/>
          </a:prstGeom>
          <a:solidFill>
            <a:srgbClr val="18D4C5"/>
          </a:solidFill>
          <a:ln>
            <a:solidFill>
              <a:srgbClr val="18D4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88336"/>
            <a:ext cx="6583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8D4C5"/>
                </a:solidFill>
                <a:latin typeface="Segoe UI"/>
              </a:rPr>
              <a:t>T1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00784" y="2706624"/>
            <a:ext cx="960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AUTO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0632" y="2688336"/>
            <a:ext cx="8138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2E2"/>
                </a:solidFill>
                <a:latin typeface="Segoe UI"/>
              </a:rPr>
              <a:t>Execute only inside compiled envelope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529584"/>
            <a:ext cx="10863072" cy="822960"/>
          </a:xfrm>
          <a:prstGeom prst="roundRect">
            <a:avLst>
              <a:gd name="adj" fmla="val 8000"/>
            </a:avLst>
          </a:prstGeom>
          <a:solidFill>
            <a:srgbClr val="10233E"/>
          </a:solidFill>
          <a:ln>
            <a:solidFill>
              <a:srgbClr val="2940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3529584"/>
            <a:ext cx="109728" cy="822960"/>
          </a:xfrm>
          <a:prstGeom prst="rect">
            <a:avLst/>
          </a:prstGeom>
          <a:solidFill>
            <a:srgbClr val="FFB547"/>
          </a:solidFill>
          <a:ln>
            <a:solidFill>
              <a:srgbClr val="FFB5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712464"/>
            <a:ext cx="6583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B547"/>
                </a:solidFill>
                <a:latin typeface="Segoe UI"/>
              </a:rPr>
              <a:t>T2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0784" y="3730752"/>
            <a:ext cx="960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DELAY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70632" y="3712464"/>
            <a:ext cx="8138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2E2"/>
                </a:solidFill>
                <a:latin typeface="Segoe UI"/>
              </a:rPr>
              <a:t>Reserve → challenge → revalidate → execute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4553712"/>
            <a:ext cx="10863072" cy="822960"/>
          </a:xfrm>
          <a:prstGeom prst="roundRect">
            <a:avLst>
              <a:gd name="adj" fmla="val 8000"/>
            </a:avLst>
          </a:prstGeom>
          <a:solidFill>
            <a:srgbClr val="10233E"/>
          </a:solidFill>
          <a:ln>
            <a:solidFill>
              <a:srgbClr val="2940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4553712"/>
            <a:ext cx="109728" cy="822960"/>
          </a:xfrm>
          <a:prstGeom prst="rect">
            <a:avLst/>
          </a:prstGeom>
          <a:solidFill>
            <a:srgbClr val="EF5A5A"/>
          </a:solidFill>
          <a:ln>
            <a:solidFill>
              <a:srgbClr val="EF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736592"/>
            <a:ext cx="6583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F5A5A"/>
                </a:solidFill>
                <a:latin typeface="Segoe UI"/>
              </a:rPr>
              <a:t>T3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00784" y="4754880"/>
            <a:ext cx="960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BLOCK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70632" y="4736592"/>
            <a:ext cx="8138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2E2"/>
                </a:solidFill>
                <a:latin typeface="Segoe UI"/>
              </a:rPr>
              <a:t>No autonomous action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7332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CFF27"/>
                </a:solidFill>
                <a:latin typeface="Segoe UI"/>
              </a:rPr>
              <a:t>Grant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568756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examiner evidence + owner activation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5733288"/>
            <a:ext cx="7498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F5A5A"/>
                </a:solidFill>
                <a:latin typeface="Segoe UI"/>
              </a:rPr>
              <a:t>Remove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5687568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owner · examiner · claim suspension · expiry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solidFill>
              <a:srgbClr val="F7F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6510528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647084"/>
                </a:solidFill>
                <a:latin typeface="Segoe U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6510528"/>
            <a:ext cx="3840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47084"/>
                </a:solidFill>
                <a:latin typeface="Segoe UI"/>
              </a:rPr>
              <a:t>UNDERWRITE · 2026 SHENZHEN FINTECHATHON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651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647084"/>
                </a:solidFill>
                <a:latin typeface="Segoe UI"/>
              </a:rPr>
              <a:t>PROOF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4048" y="6419088"/>
            <a:ext cx="11411712" cy="0"/>
          </a:xfrm>
          <a:prstGeom prst="line">
            <a:avLst/>
          </a:prstGeom>
          <a:ln w="8890">
            <a:solidFill>
              <a:srgbClr val="D8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347472"/>
            <a:ext cx="11064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769FF"/>
                </a:solidFill>
                <a:latin typeface="Segoe UI"/>
              </a:rPr>
              <a:t>REAL EXECUTION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01827"/>
                </a:solidFill>
                <a:latin typeface="Segoe UI"/>
              </a:rPr>
              <a:t>Four public transactions. One coherent Tier-2 path.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1207" y="1627632"/>
            <a:ext cx="251460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04088" y="1810512"/>
            <a:ext cx="987552" cy="292608"/>
          </a:xfrm>
          <a:prstGeom prst="roundRect">
            <a:avLst>
              <a:gd name="adj" fmla="val 8000"/>
            </a:avLst>
          </a:prstGeom>
          <a:solidFill>
            <a:srgbClr val="1769FF"/>
          </a:solidFill>
          <a:ln>
            <a:solidFill>
              <a:srgbClr val="176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824228"/>
            <a:ext cx="9875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Segoe UI"/>
              </a:rPr>
              <a:t>COMMIT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50008"/>
            <a:ext cx="2057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827"/>
                </a:solidFill>
                <a:latin typeface="Cascadia Mono"/>
              </a:rPr>
              <a:t>0x3fd7…f58f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2770632"/>
            <a:ext cx="2084831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084"/>
                </a:solidFill>
                <a:latin typeface="Segoe UI"/>
              </a:rPr>
              <a:t>ExamCommitted · commit 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081527" y="2560320"/>
            <a:ext cx="210312" cy="0"/>
          </a:xfrm>
          <a:prstGeom prst="line">
            <a:avLst/>
          </a:prstGeom>
          <a:ln w="27940">
            <a:solidFill>
              <a:srgbClr val="176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337560" y="1627632"/>
            <a:ext cx="251460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0440" y="1810512"/>
            <a:ext cx="987552" cy="292608"/>
          </a:xfrm>
          <a:prstGeom prst="roundRect">
            <a:avLst>
              <a:gd name="adj" fmla="val 8000"/>
            </a:avLst>
          </a:prstGeom>
          <a:solidFill>
            <a:srgbClr val="18D4C5"/>
          </a:solidFill>
          <a:ln>
            <a:solidFill>
              <a:srgbClr val="18D4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0440" y="1824228"/>
            <a:ext cx="9875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Segoe UI"/>
              </a:rPr>
              <a:t>ACTIVATE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350008"/>
            <a:ext cx="2057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827"/>
                </a:solidFill>
                <a:latin typeface="Cascadia Mono"/>
              </a:rPr>
              <a:t>0x9e3b…9d8c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2770632"/>
            <a:ext cx="2084831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084"/>
                </a:solidFill>
                <a:latin typeface="Segoe UI"/>
              </a:rPr>
              <a:t>T1 = 0 · T2 enabled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897879" y="2560320"/>
            <a:ext cx="210313" cy="0"/>
          </a:xfrm>
          <a:prstGeom prst="line">
            <a:avLst/>
          </a:prstGeom>
          <a:ln w="27940">
            <a:solidFill>
              <a:srgbClr val="176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153912" y="1627632"/>
            <a:ext cx="251460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336792" y="1810512"/>
            <a:ext cx="987552" cy="292608"/>
          </a:xfrm>
          <a:prstGeom prst="roundRect">
            <a:avLst>
              <a:gd name="adj" fmla="val 8000"/>
            </a:avLst>
          </a:prstGeom>
          <a:solidFill>
            <a:srgbClr val="FFB547"/>
          </a:solidFill>
          <a:ln>
            <a:solidFill>
              <a:srgbClr val="FFB5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6792" y="1824228"/>
            <a:ext cx="9875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Segoe UI"/>
              </a:rPr>
              <a:t>REQUEST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6792" y="2350008"/>
            <a:ext cx="2057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827"/>
                </a:solidFill>
                <a:latin typeface="Cascadia Mono"/>
              </a:rPr>
              <a:t>0x20a2…94f6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6792" y="2770632"/>
            <a:ext cx="2084831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084"/>
                </a:solidFill>
                <a:latin typeface="Segoe UI"/>
              </a:rPr>
              <a:t>Pending request ID 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714232" y="2560320"/>
            <a:ext cx="210312" cy="0"/>
          </a:xfrm>
          <a:prstGeom prst="line">
            <a:avLst/>
          </a:prstGeom>
          <a:ln w="27940">
            <a:solidFill>
              <a:srgbClr val="176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970264" y="1627632"/>
            <a:ext cx="251460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53144" y="1810512"/>
            <a:ext cx="987552" cy="292608"/>
          </a:xfrm>
          <a:prstGeom prst="roundRect">
            <a:avLst>
              <a:gd name="adj" fmla="val 8000"/>
            </a:avLst>
          </a:prstGeom>
          <a:solidFill>
            <a:srgbClr val="CCFF27"/>
          </a:solidFill>
          <a:ln>
            <a:solidFill>
              <a:srgbClr val="CCFF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3144" y="1824228"/>
            <a:ext cx="9875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Segoe UI"/>
              </a:rPr>
              <a:t>EXECUTE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3144" y="2350008"/>
            <a:ext cx="2057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827"/>
                </a:solidFill>
                <a:latin typeface="Cascadia Mono"/>
              </a:rPr>
              <a:t>0xf19d…d712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3144" y="2770632"/>
            <a:ext cx="2084831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084"/>
                </a:solidFill>
                <a:latin typeface="Segoe UI"/>
              </a:rPr>
              <a:t>Payment record 1 · Tier 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21207" y="3886200"/>
            <a:ext cx="7818120" cy="1261872"/>
          </a:xfrm>
          <a:prstGeom prst="roundRect">
            <a:avLst>
              <a:gd name="adj" fmla="val 8000"/>
            </a:avLst>
          </a:prstGeom>
          <a:solidFill>
            <a:srgbClr val="08182F"/>
          </a:solidFill>
          <a:ln>
            <a:solidFill>
              <a:srgbClr val="0818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952" y="4123944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EB0C8"/>
                </a:solidFill>
                <a:latin typeface="Segoe UI"/>
              </a:rPr>
              <a:t>Receipt status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" y="4443984"/>
            <a:ext cx="1463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CCFF27"/>
                </a:solidFill>
                <a:latin typeface="Segoe UI"/>
              </a:rPr>
              <a:t>SUCCESS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95728" y="412394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EB0C8"/>
                </a:solidFill>
                <a:latin typeface="Segoe UI"/>
              </a:rPr>
              <a:t>Decoded input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95728" y="4443984"/>
            <a:ext cx="2148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scadia Mono"/>
              </a:rPr>
              <a:t>executePending(2)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37760" y="412394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EB0C8"/>
                </a:solidFill>
                <a:latin typeface="Segoe UI"/>
              </a:rPr>
              <a:t>Matching event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7760" y="4443984"/>
            <a:ext cx="2880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PaymentExecuted · tier 2</a:t>
            </a:r>
          </a:p>
        </p:txBody>
      </p:sp>
      <p:pic>
        <p:nvPicPr>
          <p:cNvPr id="39" name="Picture 38" descr="qr-execution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6528" y="3803904"/>
            <a:ext cx="1371600" cy="13716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259568" y="4087368"/>
            <a:ext cx="12801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084"/>
                </a:solidFill>
                <a:latin typeface="Segoe UI"/>
              </a:rPr>
              <a:t>Inspect the final</a:t>
            </a:r>
            <a:br/>
            <a:r>
              <a:rPr sz="1000" b="1">
                <a:solidFill>
                  <a:srgbClr val="647084"/>
                </a:solidFill>
                <a:latin typeface="Segoe UI"/>
              </a:rPr>
              <a:t>Base Sepolia receipt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21207" y="5614416"/>
            <a:ext cx="3246120" cy="292608"/>
          </a:xfrm>
          <a:prstGeom prst="roundRect">
            <a:avLst>
              <a:gd name="adj" fmla="val 8000"/>
            </a:avLst>
          </a:prstGeom>
          <a:solidFill>
            <a:srgbClr val="FFF0D7"/>
          </a:solidFill>
          <a:ln>
            <a:solidFill>
              <a:srgbClr val="FFF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207" y="5628131"/>
            <a:ext cx="32461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8B5300"/>
                </a:solidFill>
                <a:latin typeface="Segoe UI"/>
              </a:rPr>
              <a:t>CONTROLLED · 35 MOCKUSDC · NO CUSTOMER FUNDS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82F"/>
          </a:solidFill>
          <a:ln>
            <a:solidFill>
              <a:srgbClr val="0818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6510528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8DA0B9"/>
                </a:solidFill>
                <a:latin typeface="Segoe U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6510528"/>
            <a:ext cx="3840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DA0B9"/>
                </a:solidFill>
                <a:latin typeface="Segoe UI"/>
              </a:rPr>
              <a:t>UNDERWRITE · 2026 SHENZHEN FINTECHATHON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651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8DA0B9"/>
                </a:solidFill>
                <a:latin typeface="Segoe UI"/>
              </a:rPr>
              <a:t>CONTAIN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4048" y="6419088"/>
            <a:ext cx="11411712" cy="0"/>
          </a:xfrm>
          <a:prstGeom prst="line">
            <a:avLst/>
          </a:prstGeom>
          <a:ln w="8890">
            <a:solidFill>
              <a:srgbClr val="2B3B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347472"/>
            <a:ext cx="11064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8D4C5"/>
                </a:solidFill>
                <a:latin typeface="Segoe UI"/>
              </a:rPr>
              <a:t>ASSUME COMPROMISE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FFFFF"/>
                </a:solidFill>
                <a:latin typeface="Segoe UI"/>
              </a:rPr>
              <a:t>The contract remains the last line of defense</a:t>
            </a:r>
          </a:p>
        </p:txBody>
      </p:sp>
      <p:pic>
        <p:nvPicPr>
          <p:cNvPr id="9" name="Picture 8" descr="attack.png"/>
          <p:cNvPicPr>
            <a:picLocks noChangeAspect="1"/>
          </p:cNvPicPr>
          <p:nvPr/>
        </p:nvPicPr>
        <p:blipFill>
          <a:blip r:embed="rId2"/>
          <a:srcRect l="7102" r="7102"/>
          <a:stretch>
            <a:fillRect/>
          </a:stretch>
        </p:blipFill>
        <p:spPr>
          <a:xfrm>
            <a:off x="521207" y="1344168"/>
            <a:ext cx="6903720" cy="4526280"/>
          </a:xfrm>
          <a:prstGeom prst="rect">
            <a:avLst/>
          </a:prstGeom>
          <a:ln w="15240">
            <a:solidFill>
              <a:srgbClr val="2E425E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7699248" y="1344168"/>
            <a:ext cx="3931920" cy="1115568"/>
          </a:xfrm>
          <a:prstGeom prst="roundRect">
            <a:avLst>
              <a:gd name="adj" fmla="val 8000"/>
            </a:avLst>
          </a:prstGeom>
          <a:solidFill>
            <a:srgbClr val="132540"/>
          </a:solidFill>
          <a:ln>
            <a:solidFill>
              <a:srgbClr val="263B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1344168"/>
            <a:ext cx="64008" cy="1115568"/>
          </a:xfrm>
          <a:prstGeom prst="rect">
            <a:avLst/>
          </a:prstGeom>
          <a:solidFill>
            <a:srgbClr val="EF5A5A"/>
          </a:solidFill>
          <a:ln>
            <a:solidFill>
              <a:srgbClr val="EF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7848" y="1545336"/>
            <a:ext cx="35112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Recipient 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7848" y="1938528"/>
            <a:ext cx="3520439" cy="402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7D2E2"/>
                </a:solidFill>
                <a:latin typeface="Segoe UI"/>
              </a:rPr>
              <a:t>Unregistered or inactive payees revert on-chain.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99248" y="2660904"/>
            <a:ext cx="3931920" cy="1115568"/>
          </a:xfrm>
          <a:prstGeom prst="roundRect">
            <a:avLst>
              <a:gd name="adj" fmla="val 8000"/>
            </a:avLst>
          </a:prstGeom>
          <a:solidFill>
            <a:srgbClr val="132540"/>
          </a:solidFill>
          <a:ln>
            <a:solidFill>
              <a:srgbClr val="263B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99248" y="2660904"/>
            <a:ext cx="64008" cy="1115568"/>
          </a:xfrm>
          <a:prstGeom prst="rect">
            <a:avLst/>
          </a:prstGeom>
          <a:solidFill>
            <a:srgbClr val="FFB547"/>
          </a:solidFill>
          <a:ln>
            <a:solidFill>
              <a:srgbClr val="FFB5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27848" y="2862072"/>
            <a:ext cx="35112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Amount + window boundary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7848" y="3255264"/>
            <a:ext cx="3520439" cy="402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7D2E2"/>
                </a:solidFill>
                <a:latin typeface="Segoe UI"/>
              </a:rPr>
              <a:t>Per-tx, global window and recipient caps recheck.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99248" y="3977639"/>
            <a:ext cx="3931920" cy="1115568"/>
          </a:xfrm>
          <a:prstGeom prst="roundRect">
            <a:avLst>
              <a:gd name="adj" fmla="val 8000"/>
            </a:avLst>
          </a:prstGeom>
          <a:solidFill>
            <a:srgbClr val="132540"/>
          </a:solidFill>
          <a:ln>
            <a:solidFill>
              <a:srgbClr val="263B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99248" y="3977639"/>
            <a:ext cx="64008" cy="1115568"/>
          </a:xfrm>
          <a:prstGeom prst="rect">
            <a:avLst/>
          </a:prstGeom>
          <a:solidFill>
            <a:srgbClr val="18D4C5"/>
          </a:solidFill>
          <a:ln>
            <a:solidFill>
              <a:srgbClr val="18D4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7848" y="4178807"/>
            <a:ext cx="35112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Exposure boundary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7848" y="4572000"/>
            <a:ext cx="3520439" cy="402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7D2E2"/>
                </a:solidFill>
                <a:latin typeface="Segoe UI"/>
              </a:rPr>
              <a:t>Unreconciled T1 exposure cannot exceed remaining bond.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99248" y="5376672"/>
            <a:ext cx="2788920" cy="292608"/>
          </a:xfrm>
          <a:prstGeom prst="roundRect">
            <a:avLst>
              <a:gd name="adj" fmla="val 8000"/>
            </a:avLst>
          </a:prstGeom>
          <a:solidFill>
            <a:srgbClr val="22324A"/>
          </a:solidFill>
          <a:ln>
            <a:solidFill>
              <a:srgbClr val="425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99248" y="5390388"/>
            <a:ext cx="27889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DDE7F5"/>
                </a:solidFill>
                <a:latin typeface="Segoe UI"/>
              </a:rPr>
              <a:t>LIGHT UI · EXPLICITLY SIMULATED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solidFill>
              <a:srgbClr val="F7F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6510528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647084"/>
                </a:solidFill>
                <a:latin typeface="Segoe U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6510528"/>
            <a:ext cx="3840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47084"/>
                </a:solidFill>
                <a:latin typeface="Segoe UI"/>
              </a:rPr>
              <a:t>UNDERWRITE · 2026 SHENZHEN FINTECHATHON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651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647084"/>
                </a:solidFill>
                <a:latin typeface="Segoe UI"/>
              </a:rPr>
              <a:t>MEASURE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4048" y="6419088"/>
            <a:ext cx="11411712" cy="0"/>
          </a:xfrm>
          <a:prstGeom prst="line">
            <a:avLst/>
          </a:prstGeom>
          <a:ln w="8890">
            <a:solidFill>
              <a:srgbClr val="D8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347472"/>
            <a:ext cx="11064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769FF"/>
                </a:solidFill>
                <a:latin typeface="Segoe UI"/>
              </a:rPr>
              <a:t>CONTROLLED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01827"/>
                </a:solidFill>
                <a:latin typeface="Segoe UI"/>
              </a:rPr>
              <a:t>Safety improves—and autonomy is intentionally rationed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25296"/>
            <a:ext cx="74980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084"/>
                </a:solidFill>
                <a:latin typeface="Segoe UI"/>
              </a:rPr>
              <a:t>9 conditions · 330 invoices each · 2,970 controlled executions · non-independent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86537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01827"/>
                </a:solidFill>
                <a:latin typeface="Segoe UI"/>
              </a:rPr>
              <a:t>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1865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47084"/>
                </a:solidFill>
                <a:latin typeface="Segoe UI"/>
              </a:rPr>
              <a:t>automation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12848" y="1828800"/>
            <a:ext cx="3794760" cy="210312"/>
          </a:xfrm>
          <a:prstGeom prst="roundRect">
            <a:avLst>
              <a:gd name="adj" fmla="val 8000"/>
            </a:avLst>
          </a:prstGeom>
          <a:solidFill>
            <a:srgbClr val="E1E6ED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12848" y="1828800"/>
            <a:ext cx="3794760" cy="210312"/>
          </a:xfrm>
          <a:prstGeom prst="roundRect">
            <a:avLst>
              <a:gd name="adj" fmla="val 8000"/>
            </a:avLst>
          </a:prstGeom>
          <a:solidFill>
            <a:srgbClr val="EF5A5A"/>
          </a:solidFill>
          <a:ln>
            <a:solidFill>
              <a:srgbClr val="EF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801368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F5A5A"/>
                </a:solidFill>
                <a:latin typeface="Segoe UI"/>
              </a:rPr>
              <a:t>R0 100.00%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12848" y="2176272"/>
            <a:ext cx="3794760" cy="210312"/>
          </a:xfrm>
          <a:prstGeom prst="roundRect">
            <a:avLst>
              <a:gd name="adj" fmla="val 8000"/>
            </a:avLst>
          </a:prstGeom>
          <a:solidFill>
            <a:srgbClr val="E1E6ED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12848" y="2176272"/>
            <a:ext cx="0" cy="210312"/>
          </a:xfrm>
          <a:prstGeom prst="roundRect">
            <a:avLst>
              <a:gd name="adj" fmla="val 8000"/>
            </a:avLst>
          </a:prstGeom>
          <a:solidFill>
            <a:srgbClr val="18D4C5"/>
          </a:solidFill>
          <a:ln>
            <a:solidFill>
              <a:srgbClr val="18D4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214884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9806C"/>
                </a:solidFill>
                <a:latin typeface="Segoe UI"/>
              </a:rPr>
              <a:t>R2 0.00%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1865376"/>
            <a:ext cx="7498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47084"/>
                </a:solidFill>
                <a:latin typeface="Segoe UI"/>
              </a:rPr>
              <a:t>net loss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1801368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F5A5A"/>
                </a:solidFill>
                <a:latin typeface="Segoe UI"/>
              </a:rPr>
              <a:t>R0 38,700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1801368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9806C"/>
                </a:solidFill>
                <a:latin typeface="Segoe UI"/>
              </a:rPr>
              <a:t>R2 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00837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01827"/>
                </a:solidFill>
                <a:latin typeface="Segoe UI"/>
              </a:rPr>
              <a:t>BETA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3008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47084"/>
                </a:solidFill>
                <a:latin typeface="Segoe UI"/>
              </a:rPr>
              <a:t>automation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12848" y="2971800"/>
            <a:ext cx="3794760" cy="210312"/>
          </a:xfrm>
          <a:prstGeom prst="roundRect">
            <a:avLst>
              <a:gd name="adj" fmla="val 8000"/>
            </a:avLst>
          </a:prstGeom>
          <a:solidFill>
            <a:srgbClr val="E1E6ED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212848" y="2971800"/>
            <a:ext cx="3320415" cy="210312"/>
          </a:xfrm>
          <a:prstGeom prst="roundRect">
            <a:avLst>
              <a:gd name="adj" fmla="val 8000"/>
            </a:avLst>
          </a:prstGeom>
          <a:solidFill>
            <a:srgbClr val="EF5A5A"/>
          </a:solidFill>
          <a:ln>
            <a:solidFill>
              <a:srgbClr val="EF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72200" y="2944368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F5A5A"/>
                </a:solidFill>
                <a:latin typeface="Segoe UI"/>
              </a:rPr>
              <a:t>R0 87.50%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212848" y="3319272"/>
            <a:ext cx="3794760" cy="210312"/>
          </a:xfrm>
          <a:prstGeom prst="roundRect">
            <a:avLst>
              <a:gd name="adj" fmla="val 8000"/>
            </a:avLst>
          </a:prstGeom>
          <a:solidFill>
            <a:srgbClr val="E1E6ED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212848" y="3319272"/>
            <a:ext cx="205675" cy="210312"/>
          </a:xfrm>
          <a:prstGeom prst="roundRect">
            <a:avLst>
              <a:gd name="adj" fmla="val 8000"/>
            </a:avLst>
          </a:prstGeom>
          <a:solidFill>
            <a:srgbClr val="18D4C5"/>
          </a:solidFill>
          <a:ln>
            <a:solidFill>
              <a:srgbClr val="18D4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72200" y="329184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9806C"/>
                </a:solidFill>
                <a:latin typeface="Segoe UI"/>
              </a:rPr>
              <a:t>R2 5.42%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2360" y="3008376"/>
            <a:ext cx="7498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47084"/>
                </a:solidFill>
                <a:latin typeface="Segoe UI"/>
              </a:rPr>
              <a:t>net loss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2944368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F5A5A"/>
                </a:solidFill>
                <a:latin typeface="Segoe UI"/>
              </a:rPr>
              <a:t>R0 6,010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2944368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9806C"/>
                </a:solidFill>
                <a:latin typeface="Segoe UI"/>
              </a:rPr>
              <a:t>R2 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15137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01827"/>
                </a:solidFill>
                <a:latin typeface="Segoe UI"/>
              </a:rPr>
              <a:t>GAMMA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4151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47084"/>
                </a:solidFill>
                <a:latin typeface="Segoe UI"/>
              </a:rPr>
              <a:t>automation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212848" y="4114800"/>
            <a:ext cx="3794760" cy="210312"/>
          </a:xfrm>
          <a:prstGeom prst="roundRect">
            <a:avLst>
              <a:gd name="adj" fmla="val 8000"/>
            </a:avLst>
          </a:prstGeom>
          <a:solidFill>
            <a:srgbClr val="E1E6ED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212848" y="4114800"/>
            <a:ext cx="3652456" cy="210312"/>
          </a:xfrm>
          <a:prstGeom prst="roundRect">
            <a:avLst>
              <a:gd name="adj" fmla="val 8000"/>
            </a:avLst>
          </a:prstGeom>
          <a:solidFill>
            <a:srgbClr val="EF5A5A"/>
          </a:solidFill>
          <a:ln>
            <a:solidFill>
              <a:srgbClr val="EF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72200" y="4087368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F5A5A"/>
                </a:solidFill>
                <a:latin typeface="Segoe UI"/>
              </a:rPr>
              <a:t>R0 96.25%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212848" y="4462272"/>
            <a:ext cx="3794760" cy="210312"/>
          </a:xfrm>
          <a:prstGeom prst="roundRect">
            <a:avLst>
              <a:gd name="adj" fmla="val 8000"/>
            </a:avLst>
          </a:prstGeom>
          <a:solidFill>
            <a:srgbClr val="E1E6ED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212848" y="4462272"/>
            <a:ext cx="600710" cy="210312"/>
          </a:xfrm>
          <a:prstGeom prst="roundRect">
            <a:avLst>
              <a:gd name="adj" fmla="val 8000"/>
            </a:avLst>
          </a:prstGeom>
          <a:solidFill>
            <a:srgbClr val="18D4C5"/>
          </a:solidFill>
          <a:ln>
            <a:solidFill>
              <a:srgbClr val="18D4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72200" y="443484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9806C"/>
                </a:solidFill>
                <a:latin typeface="Segoe UI"/>
              </a:rPr>
              <a:t>R2 15.83%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52360" y="4151376"/>
            <a:ext cx="7498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47084"/>
                </a:solidFill>
                <a:latin typeface="Segoe UI"/>
              </a:rPr>
              <a:t>net loss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4087368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F5A5A"/>
                </a:solidFill>
                <a:latin typeface="Segoe UI"/>
              </a:rPr>
              <a:t>R0 170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0" y="4087368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9806C"/>
                </a:solidFill>
                <a:latin typeface="Segoe UI"/>
              </a:rPr>
              <a:t>R2 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21207" y="5449824"/>
            <a:ext cx="11109960" cy="658368"/>
          </a:xfrm>
          <a:prstGeom prst="roundRect">
            <a:avLst>
              <a:gd name="adj" fmla="val 8000"/>
            </a:avLst>
          </a:prstGeom>
          <a:solidFill>
            <a:srgbClr val="FFF6E8"/>
          </a:solidFill>
          <a:ln>
            <a:solidFill>
              <a:srgbClr val="F0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8952" y="5650992"/>
            <a:ext cx="10515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8B5300"/>
                </a:solidFill>
                <a:latin typeface="Segoe UI"/>
              </a:rPr>
              <a:t>Interpretation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47088" y="5596128"/>
            <a:ext cx="9372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01827"/>
                </a:solidFill>
                <a:latin typeface="Segoe UI"/>
              </a:rPr>
              <a:t>R2 recorded zero Class-I violations for all three agents, but shifted more work to review. Values are synthetic MockUSDC accounting—not customer losses.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solidFill>
              <a:srgbClr val="F7F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6510528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647084"/>
                </a:solidFill>
                <a:latin typeface="Segoe U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6510528"/>
            <a:ext cx="3840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47084"/>
                </a:solidFill>
                <a:latin typeface="Segoe UI"/>
              </a:rPr>
              <a:t>UNDERWRITE · 2026 SHENZHEN FINTECHATHON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651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647084"/>
                </a:solidFill>
                <a:latin typeface="Segoe UI"/>
              </a:rPr>
              <a:t>ASSURE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4048" y="6419088"/>
            <a:ext cx="11411712" cy="0"/>
          </a:xfrm>
          <a:prstGeom prst="line">
            <a:avLst/>
          </a:prstGeom>
          <a:ln w="8890">
            <a:solidFill>
              <a:srgbClr val="D8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347472"/>
            <a:ext cx="11064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769FF"/>
                </a:solidFill>
                <a:latin typeface="Segoe UI"/>
              </a:rPr>
              <a:t>ASSURANCE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01827"/>
                </a:solidFill>
                <a:latin typeface="Segoe UI"/>
              </a:rPr>
              <a:t>Evidence, not adjectives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1207" y="1572768"/>
            <a:ext cx="254203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5" y="1810512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69FF"/>
                </a:solidFill>
                <a:latin typeface="Segoe UI"/>
              </a:rPr>
              <a:t>101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5" y="2258568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1827"/>
                </a:solidFill>
                <a:latin typeface="Segoe UI"/>
              </a:rPr>
              <a:t>contract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5" y="2578608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084"/>
                </a:solidFill>
                <a:latin typeface="Segoe UI"/>
              </a:rPr>
              <a:t>17 suites · 0 failed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74136" y="1572768"/>
            <a:ext cx="254203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5304" y="1810512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8D4C5"/>
                </a:solidFill>
                <a:latin typeface="Segoe UI"/>
              </a:rPr>
              <a:t>159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5304" y="2258568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1827"/>
                </a:solidFill>
                <a:latin typeface="Segoe UI"/>
              </a:rPr>
              <a:t>engine tests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5304" y="2578608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084"/>
                </a:solidFill>
                <a:latin typeface="Segoe UI"/>
              </a:rPr>
              <a:t>26 files · 0 failed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7064" y="1572768"/>
            <a:ext cx="254203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1810512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B547"/>
                </a:solidFill>
                <a:latin typeface="Segoe UI"/>
              </a:rPr>
              <a:t>25,600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2258568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1827"/>
                </a:solidFill>
                <a:latin typeface="Segoe UI"/>
              </a:rPr>
              <a:t>invariant calls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2578608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084"/>
                </a:solidFill>
                <a:latin typeface="Segoe UI"/>
              </a:rPr>
              <a:t>256 campaigns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79992" y="1572768"/>
            <a:ext cx="254203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1160" y="1810512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EF5A5A"/>
                </a:solidFill>
                <a:latin typeface="Segoe UI"/>
              </a:rPr>
              <a:t>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2258568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1827"/>
                </a:solidFill>
                <a:latin typeface="Segoe UI"/>
              </a:rPr>
              <a:t>safety invariants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2578608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084"/>
                </a:solidFill>
                <a:latin typeface="Segoe UI"/>
              </a:rPr>
              <a:t>exact test mapping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21207" y="3364992"/>
            <a:ext cx="3511296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21207" y="3364992"/>
            <a:ext cx="64008" cy="1481328"/>
          </a:xfrm>
          <a:prstGeom prst="rect">
            <a:avLst/>
          </a:prstGeom>
          <a:solidFill>
            <a:srgbClr val="EF5A5A"/>
          </a:solidFill>
          <a:ln>
            <a:solidFill>
              <a:srgbClr val="EF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3566160"/>
            <a:ext cx="30906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1827"/>
                </a:solidFill>
                <a:latin typeface="Segoe UI"/>
              </a:rPr>
              <a:t>Agentic threats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3959352"/>
            <a:ext cx="3099815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084"/>
                </a:solidFill>
                <a:latin typeface="Segoe UI"/>
              </a:rPr>
              <a:t>OWASP-informed review of goal hijack, tool misuse, identity abuse, supply chain and cascading failure.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5968" y="3364992"/>
            <a:ext cx="3511296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15968" y="3364992"/>
            <a:ext cx="64008" cy="1481328"/>
          </a:xfrm>
          <a:prstGeom prst="rect">
            <a:avLst/>
          </a:prstGeom>
          <a:solidFill>
            <a:srgbClr val="1769FF"/>
          </a:solidFill>
          <a:ln>
            <a:solidFill>
              <a:srgbClr val="176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44568" y="3566160"/>
            <a:ext cx="30906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1827"/>
                </a:solidFill>
                <a:latin typeface="Segoe UI"/>
              </a:rPr>
              <a:t>Smart-contract controls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44568" y="3959352"/>
            <a:ext cx="3099815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084"/>
                </a:solidFill>
                <a:latin typeface="Segoe UI"/>
              </a:rPr>
              <a:t>Recipient, qualification, invoice, limits, exposure, reserve, pause, claim and replay defenses.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10727" y="3364992"/>
            <a:ext cx="3511296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10727" y="3364992"/>
            <a:ext cx="64008" cy="1481328"/>
          </a:xfrm>
          <a:prstGeom prst="rect">
            <a:avLst/>
          </a:prstGeom>
          <a:solidFill>
            <a:srgbClr val="FFB547"/>
          </a:solidFill>
          <a:ln>
            <a:solidFill>
              <a:srgbClr val="FFB5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39327" y="3566160"/>
            <a:ext cx="30906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1827"/>
                </a:solidFill>
                <a:latin typeface="Segoe UI"/>
              </a:rPr>
              <a:t>Known risks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9327" y="3959352"/>
            <a:ext cx="3099815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084"/>
                </a:solidFill>
                <a:latin typeface="Segoe UI"/>
              </a:rPr>
              <a:t>Central signers, self-authored evaluation and demo-key custody remain explicitly disclosed.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21207" y="5367528"/>
            <a:ext cx="2697480" cy="292608"/>
          </a:xfrm>
          <a:prstGeom prst="roundRect">
            <a:avLst>
              <a:gd name="adj" fmla="val 8000"/>
            </a:avLst>
          </a:prstGeom>
          <a:solidFill>
            <a:srgbClr val="FEE3E3"/>
          </a:solidFill>
          <a:ln>
            <a:solidFill>
              <a:srgbClr val="FEE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1207" y="5381244"/>
            <a:ext cx="26974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AD2E2E"/>
                </a:solidFill>
                <a:latin typeface="Segoe UI"/>
              </a:rPr>
              <a:t>SELF-ASSESSMENT · NOT INDEPENDENTLY AUDITED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82F"/>
          </a:solidFill>
          <a:ln>
            <a:solidFill>
              <a:srgbClr val="0818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6510528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8DA0B9"/>
                </a:solidFill>
                <a:latin typeface="Segoe U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6510528"/>
            <a:ext cx="3840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DA0B9"/>
                </a:solidFill>
                <a:latin typeface="Segoe UI"/>
              </a:rPr>
              <a:t>UNDERWRITE · 2026 SHENZHEN FINTECHATHON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651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8DA0B9"/>
                </a:solidFill>
                <a:latin typeface="Segoe UI"/>
              </a:rPr>
              <a:t>WHY NOW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4048" y="6419088"/>
            <a:ext cx="11411712" cy="0"/>
          </a:xfrm>
          <a:prstGeom prst="line">
            <a:avLst/>
          </a:prstGeom>
          <a:ln w="8890">
            <a:solidFill>
              <a:srgbClr val="2B3B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347472"/>
            <a:ext cx="11064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8D4C5"/>
                </a:solidFill>
                <a:latin typeface="Segoe UI"/>
              </a:rPr>
              <a:t>WHAT IS DISTINCTIVE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FFFFF"/>
                </a:solidFill>
                <a:latin typeface="Segoe UI"/>
              </a:rPr>
              <a:t>Evidence is mechanically coupled to financial authority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490472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8DA0B9"/>
                </a:solidFill>
                <a:latin typeface="Segoe UI"/>
              </a:rPr>
              <a:t>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1490472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8DA0B9"/>
                </a:solidFill>
                <a:latin typeface="Segoe UI"/>
              </a:rPr>
              <a:t>AUTHORITY SOURCE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1490472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8DA0B9"/>
                </a:solidFill>
                <a:latin typeface="Segoe UI"/>
              </a:rPr>
              <a:t>ENFORCEMENT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1490472"/>
            <a:ext cx="2880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8DA0B9"/>
                </a:solidFill>
                <a:latin typeface="Segoe UI"/>
              </a:rPr>
              <a:t>RESIDUAL RISK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7" y="1828800"/>
            <a:ext cx="11109960" cy="841248"/>
          </a:xfrm>
          <a:prstGeom prst="roundRect">
            <a:avLst>
              <a:gd name="adj" fmla="val 8000"/>
            </a:avLst>
          </a:prstGeom>
          <a:solidFill>
            <a:srgbClr val="10233E"/>
          </a:solidFill>
          <a:ln>
            <a:solidFill>
              <a:srgbClr val="2940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0756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Typical agent wallet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057400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7D2E2"/>
                </a:solidFill>
                <a:latin typeface="Segoe UI"/>
              </a:rPr>
              <a:t>Owner types a limit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2057400"/>
            <a:ext cx="2423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7D2E2"/>
                </a:solidFill>
                <a:latin typeface="Segoe UI"/>
              </a:rPr>
              <a:t>Policy / contract 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011680"/>
            <a:ext cx="2880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7D2E2"/>
                </a:solidFill>
                <a:latin typeface="Segoe UI"/>
              </a:rPr>
              <a:t>Usually none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1207" y="2852928"/>
            <a:ext cx="11109960" cy="841248"/>
          </a:xfrm>
          <a:prstGeom prst="roundRect">
            <a:avLst>
              <a:gd name="adj" fmla="val 8000"/>
            </a:avLst>
          </a:prstGeom>
          <a:solidFill>
            <a:srgbClr val="10233E"/>
          </a:solidFill>
          <a:ln>
            <a:solidFill>
              <a:srgbClr val="2940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099816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Smart account controls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3081528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7D2E2"/>
                </a:solidFill>
                <a:latin typeface="Segoe UI"/>
              </a:rPr>
              <a:t>Owner configures policy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0" y="3081528"/>
            <a:ext cx="2423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7D2E2"/>
                </a:solidFill>
                <a:latin typeface="Segoe UI"/>
              </a:rPr>
              <a:t>On-chain modules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3035808"/>
            <a:ext cx="2880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7D2E2"/>
                </a:solidFill>
                <a:latin typeface="Segoe UI"/>
              </a:rPr>
              <a:t>Optional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21207" y="3877056"/>
            <a:ext cx="11109960" cy="841248"/>
          </a:xfrm>
          <a:prstGeom prst="roundRect">
            <a:avLst>
              <a:gd name="adj" fmla="val 8000"/>
            </a:avLst>
          </a:prstGeom>
          <a:solidFill>
            <a:srgbClr val="17304A"/>
          </a:solidFill>
          <a:ln>
            <a:solidFill>
              <a:srgbClr val="18D4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412394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CFF27"/>
                </a:solidFill>
                <a:latin typeface="Segoe UI"/>
              </a:rPr>
              <a:t>UNDERWRITE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4105656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7D2E2"/>
                </a:solidFill>
                <a:latin typeface="Segoe UI"/>
              </a:rPr>
              <a:t>Exam + compiler size authority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5000" y="4105656"/>
            <a:ext cx="2423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7D2E2"/>
                </a:solidFill>
                <a:latin typeface="Segoe UI"/>
              </a:rPr>
              <a:t>Vault enforces same envelope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8200" y="4059936"/>
            <a:ext cx="2880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7D2E2"/>
                </a:solidFill>
                <a:latin typeface="Segoe UI"/>
              </a:rPr>
              <a:t>Bond limits unreconciled T1 exposure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157216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F5A5A"/>
                </a:solidFill>
                <a:latin typeface="Segoe UI"/>
              </a:rPr>
              <a:t>Not claimed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73352" y="509320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We are not ‘the only’ secure wallet, not audited, and not production-ready.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12280" y="5157216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D4C5"/>
                </a:solidFill>
                <a:latin typeface="Segoe UI"/>
              </a:rPr>
              <a:t>Claimed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5093208"/>
            <a:ext cx="3886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A working evidence → authority → bond coupling with public receipts.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82F"/>
          </a:solidFill>
          <a:ln>
            <a:solidFill>
              <a:srgbClr val="0818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6510528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8DA0B9"/>
                </a:solidFill>
                <a:latin typeface="Segoe U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6510528"/>
            <a:ext cx="3840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DA0B9"/>
                </a:solidFill>
                <a:latin typeface="Segoe UI"/>
              </a:rPr>
              <a:t>UNDERWRITE · 2026 SHENZHEN FINTECHATHON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651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8DA0B9"/>
                </a:solidFill>
                <a:latin typeface="Segoe UI"/>
              </a:rPr>
              <a:t>CLOSE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4048" y="6419088"/>
            <a:ext cx="11411712" cy="0"/>
          </a:xfrm>
          <a:prstGeom prst="line">
            <a:avLst/>
          </a:prstGeom>
          <a:ln w="8890">
            <a:solidFill>
              <a:srgbClr val="2B3B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530352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CFF27"/>
                </a:solidFill>
                <a:latin typeface="Segoe UI"/>
              </a:rPr>
              <a:t>UNDERWRITE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188720"/>
            <a:ext cx="86868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Segoe UI"/>
              </a:rPr>
              <a:t>Do not trust an agent</a:t>
            </a:r>
            <a:br/>
            <a:r>
              <a:rPr sz="3400" b="1">
                <a:solidFill>
                  <a:srgbClr val="FFFFFF"/>
                </a:solidFill>
                <a:latin typeface="Segoe UI"/>
              </a:rPr>
              <a:t>with unlimited authority.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743200"/>
            <a:ext cx="7726679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C9D3E2"/>
                </a:solidFill>
                <a:latin typeface="Segoe UI"/>
              </a:rPr>
              <a:t>Give it the authority its evidence can support—then enforce that boundary where the money moves.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059936"/>
            <a:ext cx="7086600" cy="1051560"/>
          </a:xfrm>
          <a:prstGeom prst="roundRect">
            <a:avLst>
              <a:gd name="adj" fmla="val 8000"/>
            </a:avLst>
          </a:prstGeom>
          <a:solidFill>
            <a:srgbClr val="10233E"/>
          </a:solidFill>
          <a:ln>
            <a:solidFill>
              <a:srgbClr val="2940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297680"/>
            <a:ext cx="1965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D4C5"/>
                </a:solidFill>
                <a:latin typeface="Segoe UI"/>
              </a:rPr>
              <a:t>REAL BASE SEPOLIA PROOF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626864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scadia Mono"/>
              </a:rPr>
              <a:t>0xf19d5e…827ad712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5072" y="4379976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7D2E2"/>
                </a:solidFill>
                <a:latin typeface="Segoe UI"/>
              </a:rPr>
              <a:t>Receipt success · executePending(2) · PaymentExecuted · Tier 2</a:t>
            </a:r>
          </a:p>
        </p:txBody>
      </p:sp>
      <p:pic>
        <p:nvPicPr>
          <p:cNvPr id="14" name="Picture 13" descr="qr-execution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8512" y="3886200"/>
            <a:ext cx="1417320" cy="1417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430768" y="5422392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EABC0"/>
                </a:solidFill>
                <a:latin typeface="Segoe UI"/>
              </a:rPr>
              <a:t>Scan to verify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870448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DA0B9"/>
                </a:solidFill>
                <a:latin typeface="Segoe UI"/>
              </a:rPr>
              <a:t>Technical dossier · Security self-assessment · On-chain evidence · Source + tests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