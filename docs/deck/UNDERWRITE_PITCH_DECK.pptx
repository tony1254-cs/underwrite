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sepolia.basescan.org/tx/0xf19d5e201545fbe71c83c0dbd62af34a398a0414979bdaccd30fe2de827ad712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sepolia.basescan.org/tx/0xf19d5e201545fbe71c83c0dbd62af34a398a0414979bdaccd30fe2de827ad71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F"/>
          </a:solidFill>
          <a:ln>
            <a:solidFill>
              <a:srgbClr val="081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DA0B9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OPEN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2B3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50292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D4C5"/>
                </a:solidFill>
                <a:latin typeface="Segoe UI"/>
              </a:rPr>
              <a:t>INTERNATIONAL TRACK · TOPIC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78992"/>
            <a:ext cx="6583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Segoe UI"/>
              </a:rPr>
              <a:t>Authority</a:t>
            </a:r>
            <a:br/>
            <a:r>
              <a:rPr sz="3900" b="1">
                <a:solidFill>
                  <a:srgbClr val="FFFFFF"/>
                </a:solidFill>
                <a:latin typeface="Segoe UI"/>
              </a:rPr>
              <a:t>must be earned.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53512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3E2"/>
                </a:solidFill>
                <a:latin typeface="Segoe UI"/>
              </a:rPr>
              <a:t>An autonomous payment wallet where spending authority is measured, enforced on-chain, and collateral-backed.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005072"/>
            <a:ext cx="1481328" cy="292608"/>
          </a:xfrm>
          <a:prstGeom prst="roundRect">
            <a:avLst>
              <a:gd name="adj" fmla="val 8000"/>
            </a:avLst>
          </a:prstGeom>
          <a:solidFill>
            <a:srgbClr val="D9F8EE"/>
          </a:solidFill>
          <a:ln>
            <a:solidFill>
              <a:srgbClr val="D9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4018787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6765E"/>
                </a:solidFill>
                <a:latin typeface="Segoe UI"/>
              </a:rPr>
              <a:t>WORKING 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12848" y="4005072"/>
            <a:ext cx="1581912" cy="292608"/>
          </a:xfrm>
          <a:prstGeom prst="roundRect">
            <a:avLst>
              <a:gd name="adj" fmla="val 8000"/>
            </a:avLst>
          </a:prstGeom>
          <a:solidFill>
            <a:srgbClr val="FFF0D7"/>
          </a:solidFill>
          <a:ln>
            <a:solidFill>
              <a:srgbClr val="FF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4018787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B5300"/>
                </a:solidFill>
                <a:latin typeface="Segoe UI"/>
              </a:rPr>
              <a:t>REAL BASE SEPOLIA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-1051560"/>
            <a:ext cx="5212080" cy="5212080"/>
          </a:xfrm>
          <a:prstGeom prst="roundRect">
            <a:avLst>
              <a:gd name="adj" fmla="val 8000"/>
            </a:avLst>
          </a:prstGeom>
          <a:solidFill>
            <a:srgbClr val="0D2341"/>
          </a:solidFill>
          <a:ln>
            <a:solidFill>
              <a:srgbClr val="1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-502920"/>
            <a:ext cx="4846320" cy="4846320"/>
          </a:xfrm>
          <a:prstGeom prst="roundRect">
            <a:avLst>
              <a:gd name="adj" fmla="val 8000"/>
            </a:avLst>
          </a:prstGeom>
          <a:solidFill>
            <a:srgbClr val="08182F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0144" y="1033271"/>
            <a:ext cx="368503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UNDERWRITE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04704" y="1773936"/>
            <a:ext cx="1481328" cy="73152"/>
          </a:xfrm>
          <a:prstGeom prst="rect">
            <a:avLst/>
          </a:prstGeom>
          <a:solidFill>
            <a:srgbClr val="CCFF27"/>
          </a:solidFill>
          <a:ln>
            <a:solidFill>
              <a:srgbClr val="CCF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3" y="212140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EABC0"/>
                </a:solidFill>
                <a:latin typeface="Segoe UI"/>
              </a:rPr>
              <a:t>Evidence → Authority → Settlement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47084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PROBLEM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69FF"/>
                </a:solidFill>
                <a:latin typeface="Segoe UI"/>
              </a:rPr>
              <a:t>THE CONTROL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827"/>
                </a:solidFill>
                <a:latin typeface="Segoe UI"/>
              </a:rPr>
              <a:t>Intelligence cannot be its own spending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32588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084"/>
                </a:solidFill>
                <a:latin typeface="Segoe UI"/>
              </a:rPr>
              <a:t>A financial agent can be useful and still be wrong, manipulated, or compromised. Prompt instructions are not a custody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" y="214884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7" y="2148840"/>
            <a:ext cx="64008" cy="1874519"/>
          </a:xfrm>
          <a:prstGeom prst="rect">
            <a:avLst/>
          </a:prstGeom>
          <a:solidFill>
            <a:srgbClr val="EF5A5A"/>
          </a:solidFill>
          <a:ln>
            <a:solidFill>
              <a:srgbClr val="E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350008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827"/>
                </a:solidFill>
                <a:latin typeface="Segoe UI"/>
              </a:rPr>
              <a:t>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3108960" cy="1161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A poisoned invoice turns untrusted content into a payment instruction.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14884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2148840"/>
            <a:ext cx="64008" cy="1874519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350008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827"/>
                </a:solidFill>
                <a:latin typeface="Segoe UI"/>
              </a:rPr>
              <a:t>Hallucinated intent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743200"/>
            <a:ext cx="3108960" cy="1161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A model invents or confuses a vendor, amount, purchase order, or urgency.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7" y="214884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0727" y="2148840"/>
            <a:ext cx="64008" cy="1874519"/>
          </a:xfrm>
          <a:prstGeom prst="rect">
            <a:avLst/>
          </a:prstGeom>
          <a:solidFill>
            <a:srgbClr val="1769FF"/>
          </a:solidFill>
          <a:ln>
            <a:solidFill>
              <a:srgbClr val="1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2350008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827"/>
                </a:solidFill>
                <a:latin typeface="Segoe UI"/>
              </a:rPr>
              <a:t>Key compromise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743200"/>
            <a:ext cx="3108960" cy="1161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An attacker bypasses the model and calls the wallet with the agent key.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7" y="4370832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08182F"/>
          </a:solidFill>
          <a:ln>
            <a:solidFill>
              <a:srgbClr val="081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535424"/>
            <a:ext cx="10570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The question is not “Can the model pay?”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919472"/>
            <a:ext cx="105704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CFF27"/>
                </a:solidFill>
                <a:latin typeface="Segoe UI"/>
              </a:rPr>
              <a:t>Who measured, granted, bounded, and can revoke that authority?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47084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SOLUTION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69FF"/>
                </a:solidFill>
                <a:latin typeface="Segoe UI"/>
              </a:rPr>
              <a:t>THE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827"/>
                </a:solidFill>
                <a:latin typeface="Segoe UI"/>
              </a:rPr>
              <a:t>Measure risk. Compile authority. Enforce the envelope.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856231"/>
            <a:ext cx="2487168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" y="2057400"/>
            <a:ext cx="502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" y="254203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1827"/>
                </a:solidFill>
                <a:latin typeface="Segoe UI"/>
              </a:rPr>
              <a:t>EXAM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" y="3063240"/>
            <a:ext cx="2057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Exact agent configuration faces benign and adversarial scenarios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39" y="3090672"/>
            <a:ext cx="246888" cy="0"/>
          </a:xfrm>
          <a:prstGeom prst="line">
            <a:avLst/>
          </a:prstGeom>
          <a:ln w="27940">
            <a:solidFill>
              <a:srgbClr val="1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37560" y="1856231"/>
            <a:ext cx="2487168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057400"/>
            <a:ext cx="502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D4C5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54203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1827"/>
                </a:solidFill>
                <a:latin typeface="Segoe UI"/>
              </a:rPr>
              <a:t>COMPILE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063240"/>
            <a:ext cx="2057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Conservative risk bounds become tiered limits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9592" y="3090672"/>
            <a:ext cx="246887" cy="0"/>
          </a:xfrm>
          <a:prstGeom prst="line">
            <a:avLst/>
          </a:prstGeom>
          <a:ln w="27940">
            <a:solidFill>
              <a:srgbClr val="1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53912" y="1856231"/>
            <a:ext cx="2487168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057400"/>
            <a:ext cx="502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B547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4203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1827"/>
                </a:solidFill>
                <a:latin typeface="Segoe UI"/>
              </a:rPr>
              <a:t>ACTIVATE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63240"/>
            <a:ext cx="2057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Examiner signs; owner consents on-chain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95944" y="3090672"/>
            <a:ext cx="246888" cy="0"/>
          </a:xfrm>
          <a:prstGeom prst="line">
            <a:avLst/>
          </a:prstGeom>
          <a:ln w="27940">
            <a:solidFill>
              <a:srgbClr val="1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0264" y="1856231"/>
            <a:ext cx="2487168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2057400"/>
            <a:ext cx="502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CFF27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254203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1827"/>
                </a:solidFill>
                <a:latin typeface="Segoe UI"/>
              </a:rPr>
              <a:t>ENFORCE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063240"/>
            <a:ext cx="2057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Vault, challenge window and bond contain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96519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827"/>
                </a:solidFill>
                <a:latin typeface="Segoe UI"/>
              </a:rPr>
              <a:t>The model proposes. Deterministic software decides. The contract enforces.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96128"/>
            <a:ext cx="9326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084"/>
                </a:solidFill>
                <a:latin typeface="Segoe UI"/>
              </a:rPr>
              <a:t>Authority is evidence-bound, per configuration, time-limited and removable without the agent’s cooperation.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F"/>
          </a:solidFill>
          <a:ln>
            <a:solidFill>
              <a:srgbClr val="081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DA0B9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PRODUCT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2B3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8D4C5"/>
                </a:solidFill>
                <a:latin typeface="Segoe UI"/>
              </a:rPr>
              <a:t>WORKING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A judge can see the boundary, not just hear about it</a:t>
            </a:r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2"/>
          <a:srcRect l="2738" r="2738"/>
          <a:stretch>
            <a:fillRect/>
          </a:stretch>
        </p:blipFill>
        <p:spPr>
          <a:xfrm>
            <a:off x="521207" y="1353312"/>
            <a:ext cx="7452360" cy="4434840"/>
          </a:xfrm>
          <a:prstGeom prst="rect">
            <a:avLst/>
          </a:prstGeom>
          <a:ln w="15240">
            <a:solidFill>
              <a:srgbClr val="2E425E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229600" y="1353312"/>
            <a:ext cx="3401568" cy="1115568"/>
          </a:xfrm>
          <a:prstGeom prst="roundRect">
            <a:avLst>
              <a:gd name="adj" fmla="val 8000"/>
            </a:avLst>
          </a:prstGeom>
          <a:solidFill>
            <a:srgbClr val="132540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353312"/>
            <a:ext cx="64008" cy="1115568"/>
          </a:xfrm>
          <a:prstGeom prst="rect">
            <a:avLst/>
          </a:prstGeom>
          <a:solidFill>
            <a:srgbClr val="18D4C5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554480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 · Business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47672"/>
            <a:ext cx="299008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7D2E2"/>
                </a:solidFill>
                <a:latin typeface="Segoe UI"/>
              </a:rPr>
              <a:t>The agent starts from an invoice and vendor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660904"/>
            <a:ext cx="3401568" cy="1115568"/>
          </a:xfrm>
          <a:prstGeom prst="roundRect">
            <a:avLst>
              <a:gd name="adj" fmla="val 8000"/>
            </a:avLst>
          </a:prstGeom>
          <a:solidFill>
            <a:srgbClr val="132540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660904"/>
            <a:ext cx="64008" cy="1115568"/>
          </a:xfrm>
          <a:prstGeom prst="rect">
            <a:avLst/>
          </a:prstGeom>
          <a:solidFill>
            <a:srgbClr val="1769FF"/>
          </a:solidFill>
          <a:ln>
            <a:solidFill>
              <a:srgbClr val="1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862072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 · Layered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255264"/>
            <a:ext cx="299008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7D2E2"/>
                </a:solidFill>
                <a:latin typeface="Segoe UI"/>
              </a:rPr>
              <a:t>Agent → policy → contract → funds is visible.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968496"/>
            <a:ext cx="3401568" cy="1115568"/>
          </a:xfrm>
          <a:prstGeom prst="roundRect">
            <a:avLst>
              <a:gd name="adj" fmla="val 8000"/>
            </a:avLst>
          </a:prstGeom>
          <a:solidFill>
            <a:srgbClr val="132540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968496"/>
            <a:ext cx="64008" cy="1115568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4169663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 · Evidence label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562856"/>
            <a:ext cx="299008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7D2E2"/>
                </a:solidFill>
                <a:latin typeface="Segoe UI"/>
              </a:rPr>
              <a:t>Simulated UI and real testnet proof are never conflated.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367528"/>
            <a:ext cx="2148840" cy="292608"/>
          </a:xfrm>
          <a:prstGeom prst="roundRect">
            <a:avLst>
              <a:gd name="adj" fmla="val 8000"/>
            </a:avLst>
          </a:prstGeom>
          <a:solidFill>
            <a:srgbClr val="22324A"/>
          </a:solidFill>
          <a:ln>
            <a:solidFill>
              <a:srgbClr val="42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381244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DDE7F5"/>
                </a:solidFill>
                <a:latin typeface="Segoe UI"/>
              </a:rPr>
              <a:t>LIGHT UI · SCRIPTED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47084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ARCHITECTURE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69FF"/>
                </a:solidFill>
                <a:latin typeface="Segoe UI"/>
              </a:rPr>
              <a:t>TRUST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827"/>
                </a:solidFill>
                <a:latin typeface="Segoe UI"/>
              </a:rPr>
              <a:t>One narrow path from language to money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901952"/>
            <a:ext cx="248716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2084831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F5A5A"/>
          </a:solidFill>
          <a:ln>
            <a:solidFill>
              <a:srgbClr val="E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09854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UNTRUSTED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51760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1827"/>
                </a:solidFill>
                <a:latin typeface="Segoe UI"/>
              </a:rPr>
              <a:t>Invoice +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24612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Reads, extracts, proposes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39" y="3035808"/>
            <a:ext cx="246888" cy="0"/>
          </a:xfrm>
          <a:prstGeom prst="line">
            <a:avLst/>
          </a:prstGeom>
          <a:ln w="27940">
            <a:solidFill>
              <a:srgbClr val="1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37560" y="1901952"/>
            <a:ext cx="248716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2084831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1769FF"/>
          </a:solidFill>
          <a:ln>
            <a:solidFill>
              <a:srgbClr val="1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09854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DETERMINISTIC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51760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1827"/>
                </a:solidFill>
                <a:latin typeface="Segoe UI"/>
              </a:rPr>
              <a:t>Registry +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24612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Resolves, validates, classifies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79592" y="3035808"/>
            <a:ext cx="246887" cy="0"/>
          </a:xfrm>
          <a:prstGeom prst="line">
            <a:avLst/>
          </a:prstGeom>
          <a:ln w="27940">
            <a:solidFill>
              <a:srgbClr val="1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53912" y="1901952"/>
            <a:ext cx="248716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6792" y="2084831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09854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SIGNED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651760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1827"/>
                </a:solidFill>
                <a:latin typeface="Segoe UI"/>
              </a:rPr>
              <a:t>Role keys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24612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Attests and consents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95944" y="3035808"/>
            <a:ext cx="246888" cy="0"/>
          </a:xfrm>
          <a:prstGeom prst="line">
            <a:avLst/>
          </a:prstGeom>
          <a:ln w="27940">
            <a:solidFill>
              <a:srgbClr val="1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70264" y="1901952"/>
            <a:ext cx="248716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3144" y="2084831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18D4C5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3144" y="209854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ON-CHAIN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2651760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1827"/>
                </a:solidFill>
                <a:latin typeface="Segoe UI"/>
              </a:rPr>
              <a:t>Vault + BondPool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324612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Enforces and settles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7" y="4645152"/>
            <a:ext cx="11109960" cy="822960"/>
          </a:xfrm>
          <a:prstGeom prst="roundRect">
            <a:avLst>
              <a:gd name="adj" fmla="val 8000"/>
            </a:avLst>
          </a:prstGeom>
          <a:solidFill>
            <a:srgbClr val="08182F"/>
          </a:solidFill>
          <a:ln>
            <a:solidFill>
              <a:srgbClr val="081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88289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CFF27"/>
                </a:solidFill>
                <a:latin typeface="Segoe UI"/>
              </a:rPr>
              <a:t>Hard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47088" y="480060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The LLM never chooses an address, token, calldata, or spending limit.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47084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EARN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69FF"/>
                </a:solidFill>
                <a:latin typeface="Segoe UI"/>
              </a:rPr>
              <a:t>EVIDENCE TO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827"/>
                </a:solidFill>
                <a:latin typeface="Segoe UI"/>
              </a:rPr>
              <a:t>The exact configuration earns—or is denied—autonomy</a:t>
            </a:r>
          </a:p>
        </p:txBody>
      </p:sp>
      <p:pic>
        <p:nvPicPr>
          <p:cNvPr id="9" name="Picture 8" descr="exam.png"/>
          <p:cNvPicPr>
            <a:picLocks noChangeAspect="1"/>
          </p:cNvPicPr>
          <p:nvPr/>
        </p:nvPicPr>
        <p:blipFill>
          <a:blip r:embed="rId2"/>
          <a:srcRect l="12758" r="12758"/>
          <a:stretch>
            <a:fillRect/>
          </a:stretch>
        </p:blipFill>
        <p:spPr>
          <a:xfrm>
            <a:off x="521207" y="1353312"/>
            <a:ext cx="5715000" cy="4315968"/>
          </a:xfrm>
          <a:prstGeom prst="rect">
            <a:avLst/>
          </a:prstGeom>
          <a:ln w="15240">
            <a:solidFill>
              <a:srgbClr val="D8DE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65392" y="14173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769FF"/>
                </a:solidFill>
                <a:latin typeface="Segoe UI"/>
              </a:rPr>
              <a:t>COMPILER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1783080"/>
            <a:ext cx="23957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65392" y="1783080"/>
            <a:ext cx="64008" cy="1143000"/>
          </a:xfrm>
          <a:prstGeom prst="rect">
            <a:avLst/>
          </a:prstGeom>
          <a:solidFill>
            <a:srgbClr val="EF5A5A"/>
          </a:solidFill>
          <a:ln>
            <a:solidFill>
              <a:srgbClr val="E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984248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827"/>
                </a:solidFill>
                <a:latin typeface="Segoe UI"/>
              </a:rPr>
              <a:t>T1 per transaction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2377440"/>
            <a:ext cx="198424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0 MockUSDC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7152" y="1783080"/>
            <a:ext cx="23957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17152" y="1783080"/>
            <a:ext cx="64008" cy="1143000"/>
          </a:xfrm>
          <a:prstGeom prst="rect">
            <a:avLst/>
          </a:prstGeom>
          <a:solidFill>
            <a:srgbClr val="EF5A5A"/>
          </a:solidFill>
          <a:ln>
            <a:solidFill>
              <a:srgbClr val="E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1984248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827"/>
                </a:solidFill>
                <a:latin typeface="Segoe UI"/>
              </a:rPr>
              <a:t>T1 per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2377440"/>
            <a:ext cx="198424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0 MockUSDC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3182112"/>
            <a:ext cx="23957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65392" y="3182112"/>
            <a:ext cx="64008" cy="1143000"/>
          </a:xfrm>
          <a:prstGeom prst="rect">
            <a:avLst/>
          </a:prstGeom>
          <a:solidFill>
            <a:srgbClr val="18D4C5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83280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827"/>
                </a:solidFill>
                <a:latin typeface="Segoe UI"/>
              </a:rPr>
              <a:t>T2 per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3776472"/>
            <a:ext cx="198424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2,000 MockUSDC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3182112"/>
            <a:ext cx="23957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17152" y="3182112"/>
            <a:ext cx="64008" cy="114300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5752" y="3383280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827"/>
                </a:solidFill>
                <a:latin typeface="Segoe UI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3776472"/>
            <a:ext cx="198424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UTILITY_GATE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6634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827"/>
                </a:solidFill>
                <a:latin typeface="Segoe UI"/>
              </a:rPr>
              <a:t>Current honest gamma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074920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084"/>
                </a:solidFill>
                <a:latin typeface="Segoe UI"/>
              </a:rPr>
              <a:t>The safety gate refused autonomous T1 authority. The system preserved bounded T2 with a human challenge window. No limit was manually overridden.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7" y="5870448"/>
            <a:ext cx="2331720" cy="292608"/>
          </a:xfrm>
          <a:prstGeom prst="roundRect">
            <a:avLst>
              <a:gd name="adj" fmla="val 8000"/>
            </a:avLst>
          </a:prstGeom>
          <a:solidFill>
            <a:srgbClr val="FFF0D7"/>
          </a:solidFill>
          <a:ln>
            <a:solidFill>
              <a:srgbClr val="FF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5884164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B5300"/>
                </a:solidFill>
                <a:latin typeface="Segoe UI"/>
              </a:rPr>
              <a:t>LIGHT UI · SCRIPTED DEMO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F"/>
          </a:solidFill>
          <a:ln>
            <a:solidFill>
              <a:srgbClr val="081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DA0B9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PERMISSION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2B3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8D4C5"/>
                </a:solidFill>
                <a:latin typeface="Segoe UI"/>
              </a:rPr>
              <a:t>PERMISSION LADDER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Fast when justified. Interruptible when uncertain.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10863072" cy="822960"/>
          </a:xfrm>
          <a:prstGeom prst="roundRect">
            <a:avLst>
              <a:gd name="adj" fmla="val 8000"/>
            </a:avLst>
          </a:prstGeom>
          <a:solidFill>
            <a:srgbClr val="10233E"/>
          </a:solidFill>
          <a:ln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81328"/>
            <a:ext cx="109728" cy="822960"/>
          </a:xfrm>
          <a:prstGeom prst="rect">
            <a:avLst/>
          </a:prstGeom>
          <a:solidFill>
            <a:srgbClr val="7A8AA3"/>
          </a:solidFill>
          <a:ln>
            <a:solidFill>
              <a:srgbClr val="7A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64208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A8AA3"/>
                </a:solidFill>
                <a:latin typeface="Segoe UI"/>
              </a:rPr>
              <a:t>T0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1682496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166420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2E2"/>
                </a:solidFill>
                <a:latin typeface="Segoe UI"/>
              </a:rPr>
              <a:t>Observe balances and business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05456"/>
            <a:ext cx="10863072" cy="822960"/>
          </a:xfrm>
          <a:prstGeom prst="roundRect">
            <a:avLst>
              <a:gd name="adj" fmla="val 8000"/>
            </a:avLst>
          </a:prstGeom>
          <a:solidFill>
            <a:srgbClr val="10233E"/>
          </a:solidFill>
          <a:ln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05456"/>
            <a:ext cx="109728" cy="822960"/>
          </a:xfrm>
          <a:prstGeom prst="rect">
            <a:avLst/>
          </a:prstGeom>
          <a:solidFill>
            <a:srgbClr val="18D4C5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88336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D4C5"/>
                </a:solidFill>
                <a:latin typeface="Segoe UI"/>
              </a:rPr>
              <a:t>T1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2706624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688336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2E2"/>
                </a:solidFill>
                <a:latin typeface="Segoe UI"/>
              </a:rPr>
              <a:t>Execute only inside compiled envelope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9584"/>
            <a:ext cx="10863072" cy="822960"/>
          </a:xfrm>
          <a:prstGeom prst="roundRect">
            <a:avLst>
              <a:gd name="adj" fmla="val 8000"/>
            </a:avLst>
          </a:prstGeom>
          <a:solidFill>
            <a:srgbClr val="10233E"/>
          </a:solidFill>
          <a:ln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9584"/>
            <a:ext cx="109728" cy="82296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712464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B547"/>
                </a:solidFill>
                <a:latin typeface="Segoe UI"/>
              </a:rPr>
              <a:t>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3730752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DELAY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0632" y="37124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2E2"/>
                </a:solidFill>
                <a:latin typeface="Segoe UI"/>
              </a:rPr>
              <a:t>Reserve → challenge → revalidate → execute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53712"/>
            <a:ext cx="10863072" cy="822960"/>
          </a:xfrm>
          <a:prstGeom prst="roundRect">
            <a:avLst>
              <a:gd name="adj" fmla="val 8000"/>
            </a:avLst>
          </a:prstGeom>
          <a:solidFill>
            <a:srgbClr val="10233E"/>
          </a:solidFill>
          <a:ln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553712"/>
            <a:ext cx="109728" cy="822960"/>
          </a:xfrm>
          <a:prstGeom prst="rect">
            <a:avLst/>
          </a:prstGeom>
          <a:solidFill>
            <a:srgbClr val="EF5A5A"/>
          </a:solidFill>
          <a:ln>
            <a:solidFill>
              <a:srgbClr val="E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736592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A5A"/>
                </a:solidFill>
                <a:latin typeface="Segoe UI"/>
              </a:rPr>
              <a:t>T3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0784" y="4754880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BLOCK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0632" y="4736592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2E2"/>
                </a:solidFill>
                <a:latin typeface="Segoe UI"/>
              </a:rPr>
              <a:t>No autonomous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332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CFF27"/>
                </a:solidFill>
                <a:latin typeface="Segoe UI"/>
              </a:rPr>
              <a:t>Grant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68756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examiner evidence + owner activation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73328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F5A5A"/>
                </a:solidFill>
                <a:latin typeface="Segoe UI"/>
              </a:rPr>
              <a:t>Remove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68756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owner · examiner · claim suspension · expiry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47084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PROOF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69FF"/>
                </a:solidFill>
                <a:latin typeface="Segoe UI"/>
              </a:rPr>
              <a:t>REAL EXECUTION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827"/>
                </a:solidFill>
                <a:latin typeface="Segoe UI"/>
              </a:rPr>
              <a:t>Four public transactions. One coherent Tier-2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627632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810512"/>
            <a:ext cx="987552" cy="292608"/>
          </a:xfrm>
          <a:prstGeom prst="roundRect">
            <a:avLst>
              <a:gd name="adj" fmla="val 8000"/>
            </a:avLst>
          </a:prstGeom>
          <a:solidFill>
            <a:srgbClr val="1769FF"/>
          </a:solidFill>
          <a:ln>
            <a:solidFill>
              <a:srgbClr val="1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24228"/>
            <a:ext cx="9875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0008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7"/>
                </a:solidFill>
                <a:latin typeface="Cascadia Mono"/>
              </a:rPr>
              <a:t>0x3fd7…f58f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770632"/>
            <a:ext cx="208483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084"/>
                </a:solidFill>
                <a:latin typeface="Segoe UI"/>
              </a:rPr>
              <a:t>ExamCommitted · commit 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81527" y="2560320"/>
            <a:ext cx="210312" cy="0"/>
          </a:xfrm>
          <a:prstGeom prst="line">
            <a:avLst/>
          </a:prstGeom>
          <a:ln w="27940">
            <a:solidFill>
              <a:srgbClr val="1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37560" y="1627632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1810512"/>
            <a:ext cx="987552" cy="292608"/>
          </a:xfrm>
          <a:prstGeom prst="roundRect">
            <a:avLst>
              <a:gd name="adj" fmla="val 8000"/>
            </a:avLst>
          </a:prstGeom>
          <a:solidFill>
            <a:srgbClr val="18D4C5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824228"/>
            <a:ext cx="9875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ACTIVATE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50008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7"/>
                </a:solidFill>
                <a:latin typeface="Cascadia Mono"/>
              </a:rPr>
              <a:t>0x9e3b…9d8c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770632"/>
            <a:ext cx="208483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084"/>
                </a:solidFill>
                <a:latin typeface="Segoe UI"/>
              </a:rPr>
              <a:t>T1 = 0 · T2 enabled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97879" y="2560320"/>
            <a:ext cx="210313" cy="0"/>
          </a:xfrm>
          <a:prstGeom prst="line">
            <a:avLst/>
          </a:prstGeom>
          <a:ln w="27940">
            <a:solidFill>
              <a:srgbClr val="1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53912" y="1627632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6792" y="1810512"/>
            <a:ext cx="987552" cy="292608"/>
          </a:xfrm>
          <a:prstGeom prst="roundRect">
            <a:avLst>
              <a:gd name="adj" fmla="val 8000"/>
            </a:avLst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824228"/>
            <a:ext cx="9875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350008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7"/>
                </a:solidFill>
                <a:latin typeface="Cascadia Mono"/>
              </a:rPr>
              <a:t>0x20a2…94f6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770632"/>
            <a:ext cx="208483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084"/>
                </a:solidFill>
                <a:latin typeface="Segoe UI"/>
              </a:rPr>
              <a:t>Pending request ID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14232" y="2560320"/>
            <a:ext cx="210312" cy="0"/>
          </a:xfrm>
          <a:prstGeom prst="line">
            <a:avLst/>
          </a:prstGeom>
          <a:ln w="27940">
            <a:solidFill>
              <a:srgbClr val="1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70264" y="1627632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3144" y="1810512"/>
            <a:ext cx="987552" cy="292608"/>
          </a:xfrm>
          <a:prstGeom prst="roundRect">
            <a:avLst>
              <a:gd name="adj" fmla="val 8000"/>
            </a:avLst>
          </a:prstGeom>
          <a:solidFill>
            <a:srgbClr val="CCFF27"/>
          </a:solidFill>
          <a:ln>
            <a:solidFill>
              <a:srgbClr val="CCF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3144" y="1824228"/>
            <a:ext cx="9875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2350008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7"/>
                </a:solidFill>
                <a:latin typeface="Cascadia Mono"/>
              </a:rPr>
              <a:t>0xf19d…d712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2770632"/>
            <a:ext cx="208483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084"/>
                </a:solidFill>
                <a:latin typeface="Segoe UI"/>
              </a:rPr>
              <a:t>Payment record 1 · Tier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7" y="3886200"/>
            <a:ext cx="7818120" cy="1261872"/>
          </a:xfrm>
          <a:prstGeom prst="roundRect">
            <a:avLst>
              <a:gd name="adj" fmla="val 8000"/>
            </a:avLst>
          </a:prstGeom>
          <a:solidFill>
            <a:srgbClr val="08182F"/>
          </a:solidFill>
          <a:ln>
            <a:solidFill>
              <a:srgbClr val="081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12394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EB0C8"/>
                </a:solidFill>
                <a:latin typeface="Segoe UI"/>
              </a:rPr>
              <a:t>Receipt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44439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CFF27"/>
                </a:solidFill>
                <a:latin typeface="Segoe UI"/>
              </a:rPr>
              <a:t>SUCCESS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95728" y="4123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EB0C8"/>
                </a:solidFill>
                <a:latin typeface="Segoe UI"/>
              </a:rPr>
              <a:t>Decoded 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4443984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scadia Mono"/>
              </a:rPr>
              <a:t>executePending(2)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123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EB0C8"/>
                </a:solidFill>
                <a:latin typeface="Segoe UI"/>
              </a:rPr>
              <a:t>Matching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4443984"/>
            <a:ext cx="2880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PaymentExecuted · tier 2</a:t>
            </a:r>
          </a:p>
        </p:txBody>
      </p:sp>
      <p:pic>
        <p:nvPicPr>
          <p:cNvPr id="39" name="Picture 38" descr="qr-execution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3803904"/>
            <a:ext cx="1371600" cy="1371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59568" y="4087368"/>
            <a:ext cx="1280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084"/>
                </a:solidFill>
                <a:latin typeface="Segoe UI"/>
              </a:rPr>
              <a:t>Inspect the final</a:t>
            </a:r>
            <a:br/>
            <a:r>
              <a:rPr sz="1000" b="1">
                <a:solidFill>
                  <a:srgbClr val="647084"/>
                </a:solidFill>
                <a:latin typeface="Segoe UI"/>
              </a:rPr>
              <a:t>Base Sepolia receipt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7" y="5614416"/>
            <a:ext cx="3246120" cy="292608"/>
          </a:xfrm>
          <a:prstGeom prst="roundRect">
            <a:avLst>
              <a:gd name="adj" fmla="val 8000"/>
            </a:avLst>
          </a:prstGeom>
          <a:solidFill>
            <a:srgbClr val="FFF0D7"/>
          </a:solidFill>
          <a:ln>
            <a:solidFill>
              <a:srgbClr val="FF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7" y="5628131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B5300"/>
                </a:solidFill>
                <a:latin typeface="Segoe UI"/>
              </a:rPr>
              <a:t>CONTROLLED · 35 MOCKUSDC · NO CUSTOMER FUNDS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F"/>
          </a:solidFill>
          <a:ln>
            <a:solidFill>
              <a:srgbClr val="081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DA0B9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CONTAIN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2B3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8D4C5"/>
                </a:solidFill>
                <a:latin typeface="Segoe UI"/>
              </a:rPr>
              <a:t>ASSUME COMPROMISE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The contract remains the last line of defense</a:t>
            </a:r>
          </a:p>
        </p:txBody>
      </p:sp>
      <p:pic>
        <p:nvPicPr>
          <p:cNvPr id="9" name="Picture 8" descr="attack.png"/>
          <p:cNvPicPr>
            <a:picLocks noChangeAspect="1"/>
          </p:cNvPicPr>
          <p:nvPr/>
        </p:nvPicPr>
        <p:blipFill>
          <a:blip r:embed="rId2"/>
          <a:srcRect l="7102" r="7102"/>
          <a:stretch>
            <a:fillRect/>
          </a:stretch>
        </p:blipFill>
        <p:spPr>
          <a:xfrm>
            <a:off x="521207" y="1344168"/>
            <a:ext cx="6903720" cy="4526280"/>
          </a:xfrm>
          <a:prstGeom prst="rect">
            <a:avLst/>
          </a:prstGeom>
          <a:ln w="15240">
            <a:solidFill>
              <a:srgbClr val="2E425E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699248" y="1344168"/>
            <a:ext cx="3931920" cy="1115568"/>
          </a:xfrm>
          <a:prstGeom prst="roundRect">
            <a:avLst>
              <a:gd name="adj" fmla="val 8000"/>
            </a:avLst>
          </a:prstGeom>
          <a:solidFill>
            <a:srgbClr val="132540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1344168"/>
            <a:ext cx="64008" cy="1115568"/>
          </a:xfrm>
          <a:prstGeom prst="rect">
            <a:avLst/>
          </a:prstGeom>
          <a:solidFill>
            <a:srgbClr val="EF5A5A"/>
          </a:solidFill>
          <a:ln>
            <a:solidFill>
              <a:srgbClr val="E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1545336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Recipient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1938528"/>
            <a:ext cx="3520439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7D2E2"/>
                </a:solidFill>
                <a:latin typeface="Segoe UI"/>
              </a:rPr>
              <a:t>Unregistered or inactive payees revert on-chain.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9248" y="2660904"/>
            <a:ext cx="3931920" cy="1115568"/>
          </a:xfrm>
          <a:prstGeom prst="roundRect">
            <a:avLst>
              <a:gd name="adj" fmla="val 8000"/>
            </a:avLst>
          </a:prstGeom>
          <a:solidFill>
            <a:srgbClr val="132540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9248" y="2660904"/>
            <a:ext cx="64008" cy="1115568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2862072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Amount + window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3255264"/>
            <a:ext cx="3520439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7D2E2"/>
                </a:solidFill>
                <a:latin typeface="Segoe UI"/>
              </a:rPr>
              <a:t>Per-tx, global window and recipient caps recheck.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8" y="3977639"/>
            <a:ext cx="3931920" cy="1115568"/>
          </a:xfrm>
          <a:prstGeom prst="roundRect">
            <a:avLst>
              <a:gd name="adj" fmla="val 8000"/>
            </a:avLst>
          </a:prstGeom>
          <a:solidFill>
            <a:srgbClr val="132540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99248" y="3977639"/>
            <a:ext cx="64008" cy="1115568"/>
          </a:xfrm>
          <a:prstGeom prst="rect">
            <a:avLst/>
          </a:prstGeom>
          <a:solidFill>
            <a:srgbClr val="18D4C5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4178807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Exposure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4572000"/>
            <a:ext cx="3520439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7D2E2"/>
                </a:solidFill>
                <a:latin typeface="Segoe UI"/>
              </a:rPr>
              <a:t>Unreconciled T1 exposure cannot exceed remaining bond.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5376672"/>
            <a:ext cx="2788920" cy="292608"/>
          </a:xfrm>
          <a:prstGeom prst="roundRect">
            <a:avLst>
              <a:gd name="adj" fmla="val 8000"/>
            </a:avLst>
          </a:prstGeom>
          <a:solidFill>
            <a:srgbClr val="22324A"/>
          </a:solidFill>
          <a:ln>
            <a:solidFill>
              <a:srgbClr val="42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5390388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DDE7F5"/>
                </a:solidFill>
                <a:latin typeface="Segoe UI"/>
              </a:rPr>
              <a:t>LIGHT UI · EXPLICITLY SIMULATED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47084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MEASURE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69FF"/>
                </a:solidFill>
                <a:latin typeface="Segoe UI"/>
              </a:rPr>
              <a:t>CONTROLLED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827"/>
                </a:solidFill>
                <a:latin typeface="Segoe UI"/>
              </a:rPr>
              <a:t>Safety improves—and autonomy is intentionally rationed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225296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084"/>
                </a:solidFill>
                <a:latin typeface="Segoe UI"/>
              </a:rPr>
              <a:t>9 conditions · 330 invoices each · 2,970 controlled executions · non-independent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653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827"/>
                </a:solidFill>
                <a:latin typeface="Segoe UI"/>
              </a:rPr>
              <a:t>ALPHA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865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084"/>
                </a:solidFill>
                <a:latin typeface="Segoe UI"/>
              </a:rPr>
              <a:t>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12848" y="1828800"/>
            <a:ext cx="3794760" cy="210312"/>
          </a:xfrm>
          <a:prstGeom prst="roundRect">
            <a:avLst>
              <a:gd name="adj" fmla="val 8000"/>
            </a:avLst>
          </a:prstGeom>
          <a:solidFill>
            <a:srgbClr val="E1E6ED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1828800"/>
            <a:ext cx="3794760" cy="210312"/>
          </a:xfrm>
          <a:prstGeom prst="roundRect">
            <a:avLst>
              <a:gd name="adj" fmla="val 8000"/>
            </a:avLst>
          </a:prstGeom>
          <a:solidFill>
            <a:srgbClr val="EF5A5A"/>
          </a:solidFill>
          <a:ln>
            <a:solidFill>
              <a:srgbClr val="E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80136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F5A5A"/>
                </a:solidFill>
                <a:latin typeface="Segoe UI"/>
              </a:rPr>
              <a:t>R0 100.00%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12848" y="2176272"/>
            <a:ext cx="3794760" cy="210312"/>
          </a:xfrm>
          <a:prstGeom prst="roundRect">
            <a:avLst>
              <a:gd name="adj" fmla="val 8000"/>
            </a:avLst>
          </a:prstGeom>
          <a:solidFill>
            <a:srgbClr val="E1E6ED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12848" y="2176272"/>
            <a:ext cx="0" cy="210312"/>
          </a:xfrm>
          <a:prstGeom prst="roundRect">
            <a:avLst>
              <a:gd name="adj" fmla="val 8000"/>
            </a:avLst>
          </a:prstGeom>
          <a:solidFill>
            <a:srgbClr val="18D4C5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488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9806C"/>
                </a:solidFill>
                <a:latin typeface="Segoe UI"/>
              </a:rPr>
              <a:t>R2 0.00%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86537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084"/>
                </a:solidFill>
                <a:latin typeface="Segoe UI"/>
              </a:rPr>
              <a:t>net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0136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F5A5A"/>
                </a:solidFill>
                <a:latin typeface="Segoe UI"/>
              </a:rPr>
              <a:t>R0 38,700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80136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9806C"/>
                </a:solidFill>
                <a:latin typeface="Segoe UI"/>
              </a:rPr>
              <a:t>R2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0083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827"/>
                </a:solidFill>
                <a:latin typeface="Segoe UI"/>
              </a:rPr>
              <a:t>BETA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008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084"/>
                </a:solidFill>
                <a:latin typeface="Segoe UI"/>
              </a:rPr>
              <a:t>automation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12848" y="2971800"/>
            <a:ext cx="3794760" cy="210312"/>
          </a:xfrm>
          <a:prstGeom prst="roundRect">
            <a:avLst>
              <a:gd name="adj" fmla="val 8000"/>
            </a:avLst>
          </a:prstGeom>
          <a:solidFill>
            <a:srgbClr val="E1E6ED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12848" y="2971800"/>
            <a:ext cx="3320415" cy="210312"/>
          </a:xfrm>
          <a:prstGeom prst="roundRect">
            <a:avLst>
              <a:gd name="adj" fmla="val 8000"/>
            </a:avLst>
          </a:prstGeom>
          <a:solidFill>
            <a:srgbClr val="EF5A5A"/>
          </a:solidFill>
          <a:ln>
            <a:solidFill>
              <a:srgbClr val="E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94436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F5A5A"/>
                </a:solidFill>
                <a:latin typeface="Segoe UI"/>
              </a:rPr>
              <a:t>R0 87.50%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12848" y="3319272"/>
            <a:ext cx="3794760" cy="210312"/>
          </a:xfrm>
          <a:prstGeom prst="roundRect">
            <a:avLst>
              <a:gd name="adj" fmla="val 8000"/>
            </a:avLst>
          </a:prstGeom>
          <a:solidFill>
            <a:srgbClr val="E1E6ED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212848" y="3319272"/>
            <a:ext cx="205675" cy="210312"/>
          </a:xfrm>
          <a:prstGeom prst="roundRect">
            <a:avLst>
              <a:gd name="adj" fmla="val 8000"/>
            </a:avLst>
          </a:prstGeom>
          <a:solidFill>
            <a:srgbClr val="18D4C5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2918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9806C"/>
                </a:solidFill>
                <a:latin typeface="Segoe UI"/>
              </a:rPr>
              <a:t>R2 5.42%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00837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084"/>
                </a:solidFill>
                <a:latin typeface="Segoe UI"/>
              </a:rPr>
              <a:t>net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94436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F5A5A"/>
                </a:solidFill>
                <a:latin typeface="Segoe UI"/>
              </a:rPr>
              <a:t>R0 6,010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94436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9806C"/>
                </a:solidFill>
                <a:latin typeface="Segoe UI"/>
              </a:rPr>
              <a:t>R2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1513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827"/>
                </a:solidFill>
                <a:latin typeface="Segoe UI"/>
              </a:rPr>
              <a:t>GAMMA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151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084"/>
                </a:solidFill>
                <a:latin typeface="Segoe UI"/>
              </a:rPr>
              <a:t>automation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12848" y="4114800"/>
            <a:ext cx="3794760" cy="210312"/>
          </a:xfrm>
          <a:prstGeom prst="roundRect">
            <a:avLst>
              <a:gd name="adj" fmla="val 8000"/>
            </a:avLst>
          </a:prstGeom>
          <a:solidFill>
            <a:srgbClr val="E1E6ED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212848" y="4114800"/>
            <a:ext cx="3652456" cy="210312"/>
          </a:xfrm>
          <a:prstGeom prst="roundRect">
            <a:avLst>
              <a:gd name="adj" fmla="val 8000"/>
            </a:avLst>
          </a:prstGeom>
          <a:solidFill>
            <a:srgbClr val="EF5A5A"/>
          </a:solidFill>
          <a:ln>
            <a:solidFill>
              <a:srgbClr val="E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08736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F5A5A"/>
                </a:solidFill>
                <a:latin typeface="Segoe UI"/>
              </a:rPr>
              <a:t>R0 96.25%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12848" y="4462272"/>
            <a:ext cx="3794760" cy="210312"/>
          </a:xfrm>
          <a:prstGeom prst="roundRect">
            <a:avLst>
              <a:gd name="adj" fmla="val 8000"/>
            </a:avLst>
          </a:prstGeom>
          <a:solidFill>
            <a:srgbClr val="E1E6ED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212848" y="4462272"/>
            <a:ext cx="600710" cy="210312"/>
          </a:xfrm>
          <a:prstGeom prst="roundRect">
            <a:avLst>
              <a:gd name="adj" fmla="val 8000"/>
            </a:avLst>
          </a:prstGeom>
          <a:solidFill>
            <a:srgbClr val="18D4C5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4348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9806C"/>
                </a:solidFill>
                <a:latin typeface="Segoe UI"/>
              </a:rPr>
              <a:t>R2 15.83%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415137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084"/>
                </a:solidFill>
                <a:latin typeface="Segoe UI"/>
              </a:rPr>
              <a:t>net loss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08736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F5A5A"/>
                </a:solidFill>
                <a:latin typeface="Segoe UI"/>
              </a:rPr>
              <a:t>R0 170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08736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9806C"/>
                </a:solidFill>
                <a:latin typeface="Segoe UI"/>
              </a:rPr>
              <a:t>R2 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7" y="5449824"/>
            <a:ext cx="11109960" cy="658368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>
            <a:solidFill>
              <a:srgbClr val="F0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5650992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B5300"/>
                </a:solidFill>
                <a:latin typeface="Segoe UI"/>
              </a:rPr>
              <a:t>Interpretation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47088" y="5596128"/>
            <a:ext cx="9372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827"/>
                </a:solidFill>
                <a:latin typeface="Segoe UI"/>
              </a:rPr>
              <a:t>R2 recorded zero Class-I violations for all three agents, but shifted more work to review. Values are synthetic MockUSDC accounting—not customer losses.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47084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47084"/>
                </a:solidFill>
                <a:latin typeface="Segoe UI"/>
              </a:rPr>
              <a:t>ASSURE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69FF"/>
                </a:solidFill>
                <a:latin typeface="Segoe UI"/>
              </a:rPr>
              <a:t>ASSURANCE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827"/>
                </a:solidFill>
                <a:latin typeface="Segoe UI"/>
              </a:rPr>
              <a:t>Evidence, not adjectives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572768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" y="1810512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69FF"/>
                </a:solidFill>
                <a:latin typeface="Segoe UI"/>
              </a:rPr>
              <a:t>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" y="22585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827"/>
                </a:solidFill>
                <a:latin typeface="Segoe UI"/>
              </a:rPr>
              <a:t>contract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" y="25786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084"/>
                </a:solidFill>
                <a:latin typeface="Segoe UI"/>
              </a:rPr>
              <a:t>17 suites · 0 failed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1572768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810512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D4C5"/>
                </a:solidFill>
                <a:latin typeface="Segoe UI"/>
              </a:rPr>
              <a:t>159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2585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827"/>
                </a:solidFill>
                <a:latin typeface="Segoe UI"/>
              </a:rPr>
              <a:t>engine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5786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084"/>
                </a:solidFill>
                <a:latin typeface="Segoe UI"/>
              </a:rPr>
              <a:t>26 files · 0 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1572768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810512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B547"/>
                </a:solidFill>
                <a:latin typeface="Segoe UI"/>
              </a:rPr>
              <a:t>25,600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2585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827"/>
                </a:solidFill>
                <a:latin typeface="Segoe UI"/>
              </a:rPr>
              <a:t>invariant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786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084"/>
                </a:solidFill>
                <a:latin typeface="Segoe UI"/>
              </a:rPr>
              <a:t>256 campaigns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2" y="1572768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10512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F5A5A"/>
                </a:solidFill>
                <a:latin typeface="Segoe U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2585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827"/>
                </a:solidFill>
                <a:latin typeface="Segoe UI"/>
              </a:rPr>
              <a:t>safety invariants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5786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084"/>
                </a:solidFill>
                <a:latin typeface="Segoe UI"/>
              </a:rPr>
              <a:t>exact test mapping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" y="3364992"/>
            <a:ext cx="3511296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7" y="3364992"/>
            <a:ext cx="64008" cy="1481328"/>
          </a:xfrm>
          <a:prstGeom prst="rect">
            <a:avLst/>
          </a:prstGeom>
          <a:solidFill>
            <a:srgbClr val="EF5A5A"/>
          </a:solidFill>
          <a:ln>
            <a:solidFill>
              <a:srgbClr val="E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566160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827"/>
                </a:solidFill>
                <a:latin typeface="Segoe UI"/>
              </a:rPr>
              <a:t>Agentic threats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959352"/>
            <a:ext cx="3099815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OWASP-informed review of goal hijack, tool misuse, identity abuse, supply chain and cascading failure.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364992"/>
            <a:ext cx="3511296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5968" y="3364992"/>
            <a:ext cx="64008" cy="1481328"/>
          </a:xfrm>
          <a:prstGeom prst="rect">
            <a:avLst/>
          </a:prstGeom>
          <a:solidFill>
            <a:srgbClr val="1769FF"/>
          </a:solidFill>
          <a:ln>
            <a:solidFill>
              <a:srgbClr val="1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4568" y="3566160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827"/>
                </a:solidFill>
                <a:latin typeface="Segoe UI"/>
              </a:rPr>
              <a:t>Smart-contract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3959352"/>
            <a:ext cx="3099815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Recipient, qualification, invoice, limits, exposure, reserve, pause, claim and replay defenses.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7" y="3364992"/>
            <a:ext cx="3511296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0727" y="3364992"/>
            <a:ext cx="64008" cy="1481328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3566160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827"/>
                </a:solidFill>
                <a:latin typeface="Segoe UI"/>
              </a:rPr>
              <a:t>Known risks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3959352"/>
            <a:ext cx="3099815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084"/>
                </a:solidFill>
                <a:latin typeface="Segoe UI"/>
              </a:rPr>
              <a:t>Central signers, self-authored evaluation and demo-key custody remain explicitly disclosed.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207" y="5367528"/>
            <a:ext cx="2697480" cy="292608"/>
          </a:xfrm>
          <a:prstGeom prst="roundRect">
            <a:avLst>
              <a:gd name="adj" fmla="val 8000"/>
            </a:avLst>
          </a:prstGeom>
          <a:solidFill>
            <a:srgbClr val="FEE3E3"/>
          </a:solidFill>
          <a:ln>
            <a:solidFill>
              <a:srgbClr val="FE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7" y="5381244"/>
            <a:ext cx="2697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AD2E2E"/>
                </a:solidFill>
                <a:latin typeface="Segoe UI"/>
              </a:rPr>
              <a:t>SELF-ASSESSMENT · NOT INDEPENDENTLY AUDITED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F"/>
          </a:solidFill>
          <a:ln>
            <a:solidFill>
              <a:srgbClr val="081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DA0B9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WHY NOW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2B3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4747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8D4C5"/>
                </a:solidFill>
                <a:latin typeface="Segoe UI"/>
              </a:rPr>
              <a:t>WHAT IS DISTINCTIVE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Evidence is mechanically coupled to financial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9047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DA0B9"/>
                </a:solidFill>
                <a:latin typeface="Segoe UI"/>
              </a:rP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490472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DA0B9"/>
                </a:solidFill>
                <a:latin typeface="Segoe UI"/>
              </a:rPr>
              <a:t>AUTHORITY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490472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DA0B9"/>
                </a:solidFill>
                <a:latin typeface="Segoe UI"/>
              </a:rPr>
              <a:t>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490472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DA0B9"/>
                </a:solidFill>
                <a:latin typeface="Segoe UI"/>
              </a:rPr>
              <a:t>RESIDUAL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" y="1828800"/>
            <a:ext cx="11109960" cy="841248"/>
          </a:xfrm>
          <a:prstGeom prst="roundRect">
            <a:avLst>
              <a:gd name="adj" fmla="val 8000"/>
            </a:avLst>
          </a:prstGeom>
          <a:solidFill>
            <a:srgbClr val="10233E"/>
          </a:solidFill>
          <a:ln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0756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Typical agent wallet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057400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D2E2"/>
                </a:solidFill>
                <a:latin typeface="Segoe UI"/>
              </a:rPr>
              <a:t>Owner types a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057400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D2E2"/>
                </a:solidFill>
                <a:latin typeface="Segoe UI"/>
              </a:rPr>
              <a:t>Policy / contract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11680"/>
            <a:ext cx="2880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D2E2"/>
                </a:solidFill>
                <a:latin typeface="Segoe UI"/>
              </a:rPr>
              <a:t>Usually none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" y="2852928"/>
            <a:ext cx="11109960" cy="841248"/>
          </a:xfrm>
          <a:prstGeom prst="roundRect">
            <a:avLst>
              <a:gd name="adj" fmla="val 8000"/>
            </a:avLst>
          </a:prstGeom>
          <a:solidFill>
            <a:srgbClr val="10233E"/>
          </a:solidFill>
          <a:ln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09981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Smart account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08152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D2E2"/>
                </a:solidFill>
                <a:latin typeface="Segoe UI"/>
              </a:rPr>
              <a:t>Owner configures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081528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D2E2"/>
                </a:solidFill>
                <a:latin typeface="Segoe UI"/>
              </a:rPr>
              <a:t>On-chain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035808"/>
            <a:ext cx="2880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D2E2"/>
                </a:solidFill>
                <a:latin typeface="Segoe UI"/>
              </a:rPr>
              <a:t>Optional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" y="3877056"/>
            <a:ext cx="11109960" cy="841248"/>
          </a:xfrm>
          <a:prstGeom prst="roundRect">
            <a:avLst>
              <a:gd name="adj" fmla="val 8000"/>
            </a:avLst>
          </a:prstGeom>
          <a:solidFill>
            <a:srgbClr val="17304A"/>
          </a:solidFill>
          <a:ln>
            <a:solidFill>
              <a:srgbClr val="18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1239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CFF27"/>
                </a:solidFill>
                <a:latin typeface="Segoe UI"/>
              </a:rPr>
              <a:t>UNDERWRITE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105656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D2E2"/>
                </a:solidFill>
                <a:latin typeface="Segoe UI"/>
              </a:rPr>
              <a:t>Exam + compiler size authority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105656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D2E2"/>
                </a:solidFill>
                <a:latin typeface="Segoe UI"/>
              </a:rPr>
              <a:t>Vault enforces same envelope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059936"/>
            <a:ext cx="2880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7D2E2"/>
                </a:solidFill>
                <a:latin typeface="Segoe UI"/>
              </a:rPr>
              <a:t>Bond limits unreconciled T1 exposure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1572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F5A5A"/>
                </a:solidFill>
                <a:latin typeface="Segoe UI"/>
              </a:rPr>
              <a:t>Not claimed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3352" y="509320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We are not ‘the only’ secure wallet, not audited, and not production-ready.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15721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D4C5"/>
                </a:solidFill>
                <a:latin typeface="Segoe UI"/>
              </a:rPr>
              <a:t>Claimed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5093208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 working evidence → authority → bond coupling with public receipts.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F"/>
          </a:solidFill>
          <a:ln>
            <a:solidFill>
              <a:srgbClr val="081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510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DA0B9"/>
                </a:solidFill>
                <a:latin typeface="Segoe UI"/>
              </a:rPr>
              <a:t>UNDERWRITE · 2026 SHENZHEN FINTECHATHON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DA0B9"/>
                </a:solidFill>
                <a:latin typeface="Segoe UI"/>
              </a:rPr>
              <a:t>CLOSE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6419088"/>
            <a:ext cx="11411712" cy="0"/>
          </a:xfrm>
          <a:prstGeom prst="line">
            <a:avLst/>
          </a:prstGeom>
          <a:ln w="8890">
            <a:solidFill>
              <a:srgbClr val="2B3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53035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CFF27"/>
                </a:solidFill>
                <a:latin typeface="Segoe UI"/>
              </a:rPr>
              <a:t>UNDERWRITE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8686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Do not trust an agent</a:t>
            </a:r>
            <a:br/>
            <a:r>
              <a:rPr sz="3400" b="1">
                <a:solidFill>
                  <a:srgbClr val="FFFFFF"/>
                </a:solidFill>
                <a:latin typeface="Segoe UI"/>
              </a:rPr>
              <a:t>with unlimited authority.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7726679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9D3E2"/>
                </a:solidFill>
                <a:latin typeface="Segoe UI"/>
              </a:rPr>
              <a:t>Give it the authority its evidence can support—then enforce that boundary where the money moves.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59936"/>
            <a:ext cx="7086600" cy="1051560"/>
          </a:xfrm>
          <a:prstGeom prst="roundRect">
            <a:avLst>
              <a:gd name="adj" fmla="val 8000"/>
            </a:avLst>
          </a:prstGeom>
          <a:solidFill>
            <a:srgbClr val="10233E"/>
          </a:solidFill>
          <a:ln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D4C5"/>
                </a:solidFill>
                <a:latin typeface="Segoe UI"/>
              </a:rPr>
              <a:t>REAL BASE SEPOLIA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268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scadia Mono"/>
              </a:rPr>
              <a:t>0xf19d5e…827ad712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437997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7D2E2"/>
                </a:solidFill>
                <a:latin typeface="Segoe UI"/>
              </a:rPr>
              <a:t>Receipt success · executePending(2) · PaymentExecuted · Tier 2</a:t>
            </a:r>
          </a:p>
        </p:txBody>
      </p:sp>
      <p:pic>
        <p:nvPicPr>
          <p:cNvPr id="14" name="Picture 13" descr="qr-execution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3886200"/>
            <a:ext cx="1417320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0768" y="542239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EABC0"/>
                </a:solidFill>
                <a:latin typeface="Segoe UI"/>
              </a:rPr>
              <a:t>Scan to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7044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DA0B9"/>
                </a:solidFill>
                <a:latin typeface="Segoe UI"/>
              </a:rPr>
              <a:t>Technical dossier · Security self-assessment · On-chain evidence · Source +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